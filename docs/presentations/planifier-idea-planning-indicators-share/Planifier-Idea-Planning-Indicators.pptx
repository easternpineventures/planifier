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bd7d19c6094fb9" /><Relationship Type="http://schemas.openxmlformats.org/officeDocument/2006/relationships/extended-properties" Target="/docProps/app.xml" Id="Re434b76a4c1b4915" /><Relationship Type="http://schemas.openxmlformats.org/officeDocument/2006/relationships/officeDocument" Target="/ppt/presentation.xml" Id="R5a71a376610f4c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61e1f162b94a3a"/>
  </p:sldMasterIdLst>
  <p:notesMasterIdLst>
    <p:notesMasterId xmlns:r="http://schemas.openxmlformats.org/officeDocument/2006/relationships" r:id="R19bb00974fdb4aa9"/>
  </p:notesMasterIdLst>
  <p:sldIdLst>
    <p:sldId xmlns:r="http://schemas.openxmlformats.org/officeDocument/2006/relationships" id="256" r:id="R8ddb1dd178e24287"/>
    <p:sldId xmlns:r="http://schemas.openxmlformats.org/officeDocument/2006/relationships" id="257" r:id="R8d67c4e028f3494c"/>
    <p:sldId xmlns:r="http://schemas.openxmlformats.org/officeDocument/2006/relationships" id="258" r:id="R3d720b18bd974fde"/>
    <p:sldId xmlns:r="http://schemas.openxmlformats.org/officeDocument/2006/relationships" id="259" r:id="R9ce3778673b54089"/>
    <p:sldId xmlns:r="http://schemas.openxmlformats.org/officeDocument/2006/relationships" id="260" r:id="R50d0f376fc0f4bbf"/>
    <p:sldId xmlns:r="http://schemas.openxmlformats.org/officeDocument/2006/relationships" id="261" r:id="Rdaccd6182b244439"/>
    <p:sldId xmlns:r="http://schemas.openxmlformats.org/officeDocument/2006/relationships" id="262" r:id="R9a0aa907f8af4062"/>
    <p:sldId xmlns:r="http://schemas.openxmlformats.org/officeDocument/2006/relationships" id="263" r:id="Ra0ea59abe136416b"/>
    <p:sldId xmlns:r="http://schemas.openxmlformats.org/officeDocument/2006/relationships" id="264" r:id="R152e5eb62ea74b12"/>
    <p:sldId xmlns:r="http://schemas.openxmlformats.org/officeDocument/2006/relationships" id="265" r:id="R75aa330c0bf442e2"/>
    <p:sldId xmlns:r="http://schemas.openxmlformats.org/officeDocument/2006/relationships" id="266" r:id="Rbf4010bef261494c"/>
    <p:sldId xmlns:r="http://schemas.openxmlformats.org/officeDocument/2006/relationships" id="267" r:id="R26c260462c6349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1e1f162b94a3a" /><Relationship Type="http://schemas.openxmlformats.org/officeDocument/2006/relationships/theme" Target="/ppt/theme/theme1.xml" Id="R4b931de098634bf8" /><Relationship Type="http://schemas.openxmlformats.org/officeDocument/2006/relationships/notesMaster" Target="/ppt/notesMasters/notesMaster1.xml" Id="R19bb00974fdb4aa9" /><Relationship Type="http://schemas.openxmlformats.org/officeDocument/2006/relationships/presProps" Target="/ppt/presProps.xml" Id="Ree19bbaebb474536" /><Relationship Type="http://schemas.openxmlformats.org/officeDocument/2006/relationships/viewProps" Target="/ppt/viewProps.xml" Id="R43f57dea755943c0" /><Relationship Type="http://schemas.openxmlformats.org/officeDocument/2006/relationships/tableStyles" Target="/ppt/tableStyles.xml" Id="Rd14aa663b5e34318" /><Relationship Type="http://schemas.openxmlformats.org/officeDocument/2006/relationships/slide" Target="/ppt/slides/slide1.xml" Id="R8ddb1dd178e24287" /><Relationship Type="http://schemas.openxmlformats.org/officeDocument/2006/relationships/slide" Target="/ppt/slides/slide2.xml" Id="R8d67c4e028f3494c" /><Relationship Type="http://schemas.openxmlformats.org/officeDocument/2006/relationships/slide" Target="/ppt/slides/slide3.xml" Id="R3d720b18bd974fde" /><Relationship Type="http://schemas.openxmlformats.org/officeDocument/2006/relationships/slide" Target="/ppt/slides/slide4.xml" Id="R9ce3778673b54089" /><Relationship Type="http://schemas.openxmlformats.org/officeDocument/2006/relationships/slide" Target="/ppt/slides/slide5.xml" Id="R50d0f376fc0f4bbf" /><Relationship Type="http://schemas.openxmlformats.org/officeDocument/2006/relationships/slide" Target="/ppt/slides/slide6.xml" Id="Rdaccd6182b244439" /><Relationship Type="http://schemas.openxmlformats.org/officeDocument/2006/relationships/slide" Target="/ppt/slides/slide7.xml" Id="R9a0aa907f8af4062" /><Relationship Type="http://schemas.openxmlformats.org/officeDocument/2006/relationships/slide" Target="/ppt/slides/slide8.xml" Id="Ra0ea59abe136416b" /><Relationship Type="http://schemas.openxmlformats.org/officeDocument/2006/relationships/slide" Target="/ppt/slides/slide9.xml" Id="R152e5eb62ea74b12" /><Relationship Type="http://schemas.openxmlformats.org/officeDocument/2006/relationships/slide" Target="/ppt/slides/slide10.xml" Id="R75aa330c0bf442e2" /><Relationship Type="http://schemas.openxmlformats.org/officeDocument/2006/relationships/slide" Target="/ppt/slides/slide11.xml" Id="Rbf4010bef261494c" /><Relationship Type="http://schemas.openxmlformats.org/officeDocument/2006/relationships/slide" Target="/ppt/slides/slide12.xml" Id="R26c260462c6349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e79439dc58a42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e232c7d49e49d0" /><Relationship Type="http://schemas.openxmlformats.org/officeDocument/2006/relationships/notesMaster" Target="/ppt/notesMasters/notesMaster1.xml" Id="R1860136b9b534d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80bf23fd64274" /><Relationship Type="http://schemas.openxmlformats.org/officeDocument/2006/relationships/notesMaster" Target="/ppt/notesMasters/notesMaster1.xml" Id="R4dfe7b79715545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eb6e0f16014bde" /><Relationship Type="http://schemas.openxmlformats.org/officeDocument/2006/relationships/notesMaster" Target="/ppt/notesMasters/notesMaster1.xml" Id="R14be8ff2c64b40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fa34b5b63842f6" /><Relationship Type="http://schemas.openxmlformats.org/officeDocument/2006/relationships/notesMaster" Target="/ppt/notesMasters/notesMaster1.xml" Id="Rd0374a34693e42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a9193a62bf4355" /><Relationship Type="http://schemas.openxmlformats.org/officeDocument/2006/relationships/notesMaster" Target="/ppt/notesMasters/notesMaster1.xml" Id="R6fa11563b9c44d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8f2048c94b4c38" /><Relationship Type="http://schemas.openxmlformats.org/officeDocument/2006/relationships/notesMaster" Target="/ppt/notesMasters/notesMaster1.xml" Id="Ra79c09a8716948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3525fbca364f02" /><Relationship Type="http://schemas.openxmlformats.org/officeDocument/2006/relationships/notesMaster" Target="/ppt/notesMasters/notesMaster1.xml" Id="Rc5b5fde9852d40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7d0554e21c4c86" /><Relationship Type="http://schemas.openxmlformats.org/officeDocument/2006/relationships/notesMaster" Target="/ppt/notesMasters/notesMaster1.xml" Id="R79768167f1f34d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620ec9912443a3" /><Relationship Type="http://schemas.openxmlformats.org/officeDocument/2006/relationships/notesMaster" Target="/ppt/notesMasters/notesMaster1.xml" Id="R5795a6b87eaf4f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d419b951f645b0" /><Relationship Type="http://schemas.openxmlformats.org/officeDocument/2006/relationships/notesMaster" Target="/ppt/notesMasters/notesMaster1.xml" Id="Rf882ef536f0f44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5fa0276dcb4b13" /><Relationship Type="http://schemas.openxmlformats.org/officeDocument/2006/relationships/notesMaster" Target="/ppt/notesMasters/notesMaster1.xml" Id="Rf833096067974d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956a1131114b25" /><Relationship Type="http://schemas.openxmlformats.org/officeDocument/2006/relationships/notesMaster" Target="/ppt/notesMasters/notesMaster1.xml" Id="R6b69b7919e4945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961048d5e455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38914815db94d15" /><Relationship Type="http://schemas.openxmlformats.org/officeDocument/2006/relationships/slideLayout" Target="/ppt/slideLayouts/slideLayout2.xml" Id="Rc748a63e443645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48a63e443645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732f30c7684135" /><Relationship Type="http://schemas.openxmlformats.org/officeDocument/2006/relationships/notesSlide" Target="/ppt/notesSlides/notesSlide1.xml" Id="Rfe80f1245ab949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ddff5269a2495c" /><Relationship Type="http://schemas.openxmlformats.org/officeDocument/2006/relationships/notesSlide" Target="/ppt/notesSlides/notesSlide2.xml" Id="R4cf65379280540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bee155d6bd4dbd" /><Relationship Type="http://schemas.openxmlformats.org/officeDocument/2006/relationships/notesSlide" Target="/ppt/notesSlides/notesSlide3.xml" Id="R19a9b0148b4b42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686c261d094fee" /><Relationship Type="http://schemas.openxmlformats.org/officeDocument/2006/relationships/notesSlide" Target="/ppt/notesSlides/notesSlide4.xml" Id="R1f5c21e6619d45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9eda59c39941f7" /><Relationship Type="http://schemas.openxmlformats.org/officeDocument/2006/relationships/notesSlide" Target="/ppt/notesSlides/notesSlide5.xml" Id="R69fecf94e73a49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8e764634b24d9a" /><Relationship Type="http://schemas.openxmlformats.org/officeDocument/2006/relationships/notesSlide" Target="/ppt/notesSlides/notesSlide6.xml" Id="R89d337972f8542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29624ceedc4e09" /><Relationship Type="http://schemas.openxmlformats.org/officeDocument/2006/relationships/notesSlide" Target="/ppt/notesSlides/notesSlide7.xml" Id="Re600d68c00cf49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172e1db7444981" /><Relationship Type="http://schemas.openxmlformats.org/officeDocument/2006/relationships/notesSlide" Target="/ppt/notesSlides/notesSlide8.xml" Id="R8a27073d7feb43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aabb96ccfb4d58" /><Relationship Type="http://schemas.openxmlformats.org/officeDocument/2006/relationships/notesSlide" Target="/ppt/notesSlides/notesSlide9.xml" Id="Rdac50e4793db4f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4c6c0abc994190" /><Relationship Type="http://schemas.openxmlformats.org/officeDocument/2006/relationships/notesSlide" Target="/ppt/notesSlides/notesSlide10.xml" Id="R2be7d2dcd1774e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e8e16dd28247a9" /><Relationship Type="http://schemas.openxmlformats.org/officeDocument/2006/relationships/notesSlide" Target="/ppt/notesSlides/notesSlide11.xml" Id="R6f90afb888924f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5c59d6f5404af6" /><Relationship Type="http://schemas.openxmlformats.org/officeDocument/2006/relationships/notesSlide" Target="/ppt/notesSlides/notesSlide12.xml" Id="R08da6726dcf54b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E7EDDD-FAF1-441E-85B5-F62840C9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43290-DF2B-4647-BA0C-09DC7308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27EB9-ABA3-4019-91BB-15D71F6D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618D6-13FE-4661-BCA8-15FCA05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9EAB5-6BCE-474C-A325-207FACC3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3BB65-CCA3-4489-BAD1-31DBABD9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9F0E5-4363-474A-BBEE-7DDE175B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C095A-73FF-4A2A-B517-33C64438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5D000-BAD9-4289-A4B3-3EC1FEE2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E9CDC-CEF1-45FB-9BFE-C3396DDC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11C5B-A72C-4A73-A1C7-405978BF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86942-F351-4C90-A9E2-91746EEB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1C13C-6625-46D2-85F1-E77195E6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7CFDC-962A-4CB3-A0E7-41D7637A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FD094-209D-4B30-BB60-F1C144F3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1B90C-79F5-46BC-A0C6-1DAB4711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42352-F99A-4686-AB5A-FFC56D9B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9B6F9-27F9-43CC-9444-1374A729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4BBE1-CDE1-4CAD-8D3C-6E172EC9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8C1B3-D51A-44C0-8B76-15F88532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8FA36-7062-491C-B4F8-4B3452A9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694EC8-E998-49C8-BBFE-709038CF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5F6B66-9536-4415-9DE4-0A4A290C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B4092-885A-44D6-A976-94CD89F1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0AC67-1C42-4891-A1E2-5133E225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D2F23-7CFB-4193-AAB4-03261D2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C0D884-E830-450B-AA44-B6B2DFBC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D362BB-C4A8-49CD-9A57-66C7BFB2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ADBF96-612C-42CF-9737-85B52CE1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A3D6C-0A3A-4272-BAEF-05048025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B662C2-AAB0-4F18-A130-DD080B7D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EDC5BB-2F46-4E0C-A00F-9521B16D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5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PLANIFIER IDEA LAB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33E0EE-FD9F-44CB-9679-C5F1CDFB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educational paper planning - not trade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4456BF-51A6-4D76-8E2D-2A0526A0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NEW PLANNING DECK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2FB9E7-83F7-485B-8A60-FE022D56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Idea Planning + Indicator Playbook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4AEEDA-3AEB-40E2-ABDA-9E775E0A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111D66-C1E9-4429-9D50-82D39119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idea planning deck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DA97B6-EFC3-4FB0-A9C7-0D1129C3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43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33CAAC-4DAD-4E58-882C-7A4D282B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859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Use this deck to shape new product ideas, call out what still needs polish, and teach indicators as simple chart context instead of magic buttons.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96C5A9-B84C-45CC-90C5-C241AB8A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4191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C6B5AD-E5B8-43B6-B870-B363379B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3640CD-1FC5-4F21-AE94-699A582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3382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3C8BDD-CBFD-465E-9E48-A3197C07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8B9465-9069-4E2B-A72B-EE1319A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990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DD50AD-0459-4377-BC4A-22EC70E8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811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B0FB3F-DCF0-433C-AF83-7F94F522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50FD36-9016-429A-89E0-9DA3C941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8A6876-9511-4D1F-A1E1-DDED84F5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DCBEE0-1301-4FF6-A48C-94D1E190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990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B1D3D0-F2CA-47D3-B15A-DF933C50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990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17D76E-5CA5-4FA4-B239-8C402821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90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771C62-2955-43A4-BE7D-DD08A201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990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8A818E-D529-4DF8-AEB5-847C96F8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990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891772-015A-4170-B729-FC87EC0C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74327"/>
            <a:ext cx="19050" cy="5410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A2E765-662C-4F58-9490-3DACEB2F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07677"/>
            <a:ext cx="95250" cy="283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76D63A-4976-4ECB-B8E5-25FE0307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21132"/>
            <a:ext cx="19050" cy="948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9F34C7-7D73-4893-BF5A-7B343F87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83057"/>
            <a:ext cx="95250" cy="624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A97547-0279-4F34-9762-594EF1C7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595071"/>
            <a:ext cx="19050" cy="7118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F099B4-4DEE-4266-BBFD-A2924546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85571"/>
            <a:ext cx="95250" cy="397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A6BE38-9B9C-4B3B-97EE-01E95CD7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52221"/>
            <a:ext cx="19050" cy="4656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62D243-DD61-4380-8ED4-1A714F6B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85571"/>
            <a:ext cx="95250" cy="1703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BCAF97-4B33-42E9-A96B-7EF9FF69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793997"/>
            <a:ext cx="19050" cy="7968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BDF48BF-EAE8-446F-B157-AD53E54C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5922"/>
            <a:ext cx="95250" cy="5110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778E21-4729-4293-BC29-163512E8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76475"/>
            <a:ext cx="19050" cy="103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B31C42-E02B-4B39-AA3D-32CF8E79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66975"/>
            <a:ext cx="95250" cy="6814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D9AA987-38E8-485E-9607-47F173E9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15029"/>
            <a:ext cx="19050" cy="5410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B86982-B2E1-48B0-A87E-EF499677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8379"/>
            <a:ext cx="95250" cy="283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45A335-AD62-4E83-9E1F-48392CE0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29670"/>
            <a:ext cx="19050" cy="664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9E33995-1CCD-4330-A31D-19948140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91595"/>
            <a:ext cx="95250" cy="3407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736EAD0-2CB4-43AF-9895-6BEF09BE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19691"/>
            <a:ext cx="19050" cy="9957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40F5D0A-AC1E-4E74-B0A8-A99F8385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10191"/>
            <a:ext cx="95250" cy="6814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860DCC-8B81-48BD-A7BD-EB6CBE19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425087"/>
            <a:ext cx="19050" cy="1147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24B687-1AF5-4AD4-8237-4DF6C5E1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58437"/>
            <a:ext cx="95250" cy="8517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3203F2-0D92-4E9D-BD74-9AABDB8F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396512"/>
            <a:ext cx="19050" cy="7400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7F9980-032F-48C3-9806-8698213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58437"/>
            <a:ext cx="95250" cy="454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5C0A806-77D0-4CE9-9F91-F53C4784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822206"/>
            <a:ext cx="19050" cy="103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0AD231-E8D9-40F0-B4F9-782A012C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12706"/>
            <a:ext cx="95250" cy="6814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F57655C-1AF3-4B81-B77B-9D429511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560760"/>
            <a:ext cx="19050" cy="768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4A08EE3-D38F-4D95-9B44-463171D9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94110"/>
            <a:ext cx="95250" cy="5110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1BCDC1D-2487-4EB1-9BDE-4F767139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16103"/>
            <a:ext cx="19050" cy="550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22B014-2039-49F6-8A44-EE9EAA47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78028"/>
            <a:ext cx="95250" cy="2271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E013DF1-AE72-40CD-84B0-8AD1B366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992557"/>
            <a:ext cx="19050" cy="1109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DEFC0FC-761B-4E84-A467-83D5480F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83057"/>
            <a:ext cx="95250" cy="7949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9FF050D-2026-4C0F-8D6A-E2DB8BED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368303"/>
            <a:ext cx="19050" cy="976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FB31A2-BD24-4A6B-90D4-8E155D1A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501653"/>
            <a:ext cx="95250" cy="6814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642A21C-056E-423E-9F7B-B69E6258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339728"/>
            <a:ext cx="19050" cy="683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1FDA9E7-2A88-48DA-B737-4B021034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01653"/>
            <a:ext cx="95250" cy="397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68C04EB-F76B-4F1A-9508-61FA52CC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708638"/>
            <a:ext cx="19050" cy="103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D24B11F-88AD-4C1C-9D38-B1535FD8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99138"/>
            <a:ext cx="95250" cy="6814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9BDFE2F-6693-4073-9BF6-DC070DBE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447192"/>
            <a:ext cx="19050" cy="768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E5C073F-C501-4658-AE7A-B8800A5F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80542"/>
            <a:ext cx="95250" cy="5110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BD40733-F05D-4B80-9B3D-66BA13C7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588968"/>
            <a:ext cx="19050" cy="664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DB9730-865A-433F-BB0B-B773F207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750893"/>
            <a:ext cx="95250" cy="3407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F58CBE-EA3D-4C9C-BF9F-C7ECD950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1935773"/>
            <a:ext cx="19050" cy="938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10429D1-171F-4959-87B9-0A10D240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126273"/>
            <a:ext cx="95250" cy="624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1DBE91D-84B8-4419-9527-D96E9822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538654"/>
            <a:ext cx="19050" cy="749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C52BC77-C648-46D4-AF9D-EFB3E797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672004"/>
            <a:ext cx="95250" cy="454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BB4D993-2186-45C9-B345-1AFF1F05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57525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DE622AC-127D-4C5D-AFC0-EB53A007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76425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09C25BB-CC45-43F1-9FDF-A0CAA8C0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C6EA77-A781-4841-B697-25193A0A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2AF9F6D-89A7-4D35-81B5-14175BBE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D4653C5-ECD8-4435-816A-5D5F7A55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115F8D7-93CD-42D0-8D8C-90E5ED0A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58A828A-BD12-45CD-ABBD-01F442E8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F8F90D4-BDF0-46EA-ACB2-B982E161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498BBB-E7CA-4FBD-BD2E-2576C8BE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9C90505-94BC-4480-A2DE-E37F4BA1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8FF397F-FA5D-468F-8495-CA3FF26A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C726620-F1B6-42EE-B03C-7E291C70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C5CFE70-2909-49A5-9CB9-D5E1D056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DE9FDB1-72AC-410F-BA79-83AE4957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1FDFF07-7399-4795-B7BC-E2B2116C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8AB5430-FA7A-4DB7-B517-8B6E4C0C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68E337-4E3B-491B-9617-C40AC86C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518C88D-012B-4088-9EEA-F2091EA3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CB22DFC-36B7-4C47-B3B5-7CF19F86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EFE8564-B63D-44E5-9EA6-28540A91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0792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F0EBC8E-FCAA-4F93-9247-C3B698D1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0314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rPr>
              <a:t>96.80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9AC0997-2D27-4527-9208-A9D80EE7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70497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resistance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4B9480F-DF19-4C95-BC56-63B435DF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9562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A10BA89-35B6-4E65-9911-FBC03F50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8260C0A-45B6-4D6C-957B-BE1681A6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867" y="370522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CF9354F-43B9-4D08-B0AE-B89267C4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883" y="365760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F4C69DE-B942-40D0-BB17-4222EC5F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3609975"/>
            <a:ext cx="1047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10367A-4CD8-4995-87F6-78D1C7AF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917" y="3562350"/>
            <a:ext cx="104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31EAE29-A6DC-4397-AA89-911240D8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933" y="375285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270748C-D052-424B-8CCF-3BBB432C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370522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5D016C1-0145-4D51-8223-04013FF3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967" y="365760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747CCE0-8C58-43F6-BA71-57A5272E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83" y="3609975"/>
            <a:ext cx="1047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47EB86B-A7B7-4ABB-B981-81529D51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104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11C5027-CDF0-4F86-B4C8-A1D5EAB4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017" y="375285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444BCB9-5C28-4DA9-8ABB-095895F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033" y="370522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6EA8934-0A43-41EA-A370-FDE3681B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65760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D0064F0-0815-4739-AB8C-A5C0B8C0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067" y="3609975"/>
            <a:ext cx="1047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3F5B7D3-6012-49B6-AE95-6B1771BB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083" y="3562350"/>
            <a:ext cx="104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D44A2C0-54EF-44BF-BB83-365ECB09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100" y="375285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EE01D2F-7D46-48AF-84C3-99C6697A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9117" y="370522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DA9F87D-7205-4D74-91D2-7E11533D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133" y="365760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1967B07-4F5B-4E4C-A8DA-13E412CB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57575"/>
            <a:ext cx="361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5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VOL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EDA3683-7FEE-4593-8247-91C2CB2C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1333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F3918C1-C8CB-467B-9A7A-B44A03E0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133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F7F722D-D38F-46EF-8560-9C364538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0175"/>
            <a:ext cx="133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1AF80C5-A29B-46E0-85FD-F647EEF7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9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8C7558D-09E0-419F-AD52-2268586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29100"/>
            <a:ext cx="9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2DE8602-88DF-44EE-8E6C-426D472B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24BB62C-67F3-425E-8677-E99FC522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7197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Plan ideas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0FB08C2-04B9-4D96-B998-792BB0BA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8630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Market, timeframe, thesis, level, invalidation.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B6E5B00-FBF7-4427-8140-8EB1E1A9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1333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9138A06-2D3A-4793-A70C-6E7272B5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133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A60E8EA-442F-4426-A79C-80630959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0175"/>
            <a:ext cx="133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126D91A-2F87-4EBE-9EF7-DDC10778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9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5611878-C6FC-4AAB-A02F-2BCE3ABC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229100"/>
            <a:ext cx="9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7D6C815-6002-4920-AC65-E5894304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DB70208-0756-4402-9E03-837EA70A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7197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Find gaps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C3DCCB9-EE2F-49D4-9121-E54371B6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8630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Where text, layout, or workflow gets in the way.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BA9D62C-7E68-4E4F-8703-4EDF4EF0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29100"/>
            <a:ext cx="1333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2012B40-3DC3-4FA7-A74A-64F8BBCC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29100"/>
            <a:ext cx="133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A7E4501-6722-46C7-9F5B-F741388D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10175"/>
            <a:ext cx="133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45FBC4A-7CC5-4D2A-A2D3-046DCE3A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29100"/>
            <a:ext cx="9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487B1D7-ECD3-41D7-A58A-1BB76D19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4229100"/>
            <a:ext cx="95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836D683-8E5B-421E-90C2-865B5AE3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291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318E738-0334-4E45-B631-CAAC4BBE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7197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Teach context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AB35621-B935-40F9-9DE7-EFB0471D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68630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Indicators explain evidence. Price still leads.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DC3549D-07B0-44BA-AC99-D57DB3D1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2F566A0-6620-4BB9-B8DC-561D2255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B2D94B1-B91E-4DC9-9B35-B3E113C2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5173B9A-4AB4-4371-8033-805E2FF8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FEEE4B5-2D95-4186-A824-168D4075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1480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96562D4-7F75-4953-B898-4A997BB6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B58A0A4-B5C5-42FF-A3B1-77C81D66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499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Decision rule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8A4A668-4021-43A7-8063-24E6CA8F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991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A Planifier idea should become a practice plan only when the learner can point to the chart, explain the indicator context, and name the condition that would prove the idea wrong.</a:t>
            </a:r>
          </a:p>
        </p:txBody>
      </p:sp>
    </p:spTree>
    <p:extLst>
      <p:ext uri="{BB962C8B-B14F-4D97-AF65-F5344CB8AC3E}">
        <p14:creationId xmlns:p14="http://schemas.microsoft.com/office/powerpoint/2010/main" val="21392051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5E6AC7-DE6E-42A4-87B2-376D8FD9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EBBCE-CC51-4522-8D74-C55BA154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6CAC9-3520-4E5E-8B8D-5B225633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7B591-79DD-49A1-936D-CBF4053E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FD6D6-6768-4419-BDE7-986AC168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E1611-7042-4E15-9247-7AA2AE80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F21DF-9C60-403D-A428-2080E4BB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D4196-360B-47A3-98D2-348E9EBA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B0537-3C72-4A67-BAF7-4D56F7F1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82D0A-6BFD-4226-82E8-4B0355D2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C5339-B51E-4FD9-9336-05D588C0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00211-2674-41DA-9195-6C235CC2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3E386-6F5B-4318-AA93-B015E0E8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78FA1-B933-4D37-B25E-55B46610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D939D-1978-47E8-9891-EFD54981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C86E8-11C2-4F53-891E-2A47698D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9AD3C-6E18-4347-8157-78F3CDCA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D5C7B-10C7-46B4-A319-CEF3E48A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3E310-BB4F-4FD1-AA9B-89F0E2A8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47187-9E9A-4BDD-8F3D-CC698D3B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72FEB-8175-4061-9419-7BE5DB20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C8196-9104-459A-9D59-6155B4D5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0AF7B-1B26-498C-84A0-9A718B2D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34639-F6BA-4776-B2A4-B0A18188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2BFCE-CA4D-4735-A28F-1F63C1F4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7F5A58-AD82-493C-82ED-52700C40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333B8F-0068-493D-BC7D-E5843FFB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E3CF70-4644-4FB2-81FF-02DEB135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AE698B-9DD1-420F-9D48-C3EE99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392364-7FFD-4FB6-B431-0E0D94DD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D7596B-48FA-42B1-BFA8-BA84D01A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A2B3F6-01B9-475F-B5EA-F027649D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5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IDEA PLANNING CANVAS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F08BA8-180F-458E-B32E-EA2C176F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educational paper planning - not trade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A1C1CE-625F-44CE-8026-862603DF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PLANNING PRINCIPLE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54EC86-10F7-4394-860C-B05B3D69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A new idea should enter as a testable question, not a prediction.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2EB9A6-F507-41FA-A678-C90457E0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85950"/>
            <a:ext cx="804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product should keep the user focused on evidence, invalidation, and review. That makes future saved trades useful instead of just stored screenshots.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E3D5E2-B84C-4E21-B2B1-D386819D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5B0C1F-E16B-4218-98A3-45E25B8F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idea planning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80AAB8-2E39-4779-BE1F-5D0A7CA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43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6C7D71-9F2B-482A-8B53-736EE89F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828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800488-FCAD-4282-93C2-EF735383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D02969-13EE-45A5-8D47-CD39EE2F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7E1B0D-6B4F-4DB5-AFFA-D4B8E8FD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9999A3-63ED-4496-8A0E-EEE5393C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2890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4B84FD-4770-4E50-BD2D-F265F5CA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38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42A303-FB04-4E03-A1C5-C8F0C7E4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44D39C-6EB0-4380-867F-5DB2A0F3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485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Which pair, stock, or index is being studied?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A3E610-52DD-4D8E-9C80-FD98DB2A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289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51472D-9FEC-4BD0-89E3-0C97744F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8900"/>
            <a:ext cx="1828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1D3377-3E4F-4F0D-A348-FB6A904E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8900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7210CB-8316-4DC2-973B-40899E15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90975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AA65F2-202B-4B39-9DCC-ADDF7826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890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1071BD-97EF-4D95-A882-9DA11D66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2890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B6F399-5BC1-444D-8368-6B5028C1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8900"/>
            <a:ext cx="38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2865CF-D826-4001-A0B0-9C51C198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717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Chart read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6BAD99-21ED-44C7-AF31-A7896E8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1485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Trend, level, current price location.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951850-746A-4689-B5BA-AE3DED3F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355641-4170-4916-8117-80AFFFB9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28900"/>
            <a:ext cx="1828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023EA2-5628-43C1-A081-7E854D71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28900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F808CB-C5B3-4EA3-BB69-442A37C9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90975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A42FF7-5A22-4598-838A-E3BC00EA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2890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9EC991-C9B8-4AAB-86D0-3539EB46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2890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17BDD1A-678C-480E-9DAF-097B2803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28900"/>
            <a:ext cx="38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1F4361-4C8F-4ABC-A577-45E12FA2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717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Indicator clue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2BC2BE-8AD1-4681-8A14-7CF5F0FE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86100"/>
            <a:ext cx="1485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What context does the indicator add?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22E845-AE91-4A8D-8276-73F11D7A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289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1610F9-ED0C-4D7E-A251-44ACF63E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1828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8C6419-E26D-4A27-A20E-B95ED0CE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FEEA8EA-261C-4456-A846-651F8D2D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90975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91D072C-917A-4CA9-AA35-302D8B92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BFCBCED-4DCE-43E4-B4E3-674CBB7F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2890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528A2B-AA29-4CC1-9D24-E7404A5B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38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D1B992-CCDC-47E2-A150-DA272D69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717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Practice rule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FC90B2-F7AD-42A6-A267-672A817D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86100"/>
            <a:ext cx="1485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Entry idea, target, risk, invalidation.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490D265-8868-481A-A8F5-9B54DC02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56ADF26-9E19-4051-9D8C-723E6BCF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8900"/>
            <a:ext cx="1828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B1B70C5-9782-403C-85D2-14D8DA42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8900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66C3737-D4F6-4108-AE26-16474F26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90975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A8E57D-EDC2-4E8C-B6C0-27AA4751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890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9EEDC93-B6BA-4879-89E0-F9D7B467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2890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36B44A-39F4-466B-A3E2-FA30DAF5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8900"/>
            <a:ext cx="38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34349DF-951B-4EDB-8F76-396E91F9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71775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351E058-0D7B-4C77-B8F2-19584E5B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1485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What happened and what did I learn?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7CBC4F9-C619-43A8-B135-E3DBFBFC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F9D19FD-4BF9-4165-B6F6-18D4F35E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224414A-C29E-40CF-B022-E9E7F258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68EDBD-B2E2-4735-B578-0B044E93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2748AF-BED5-4909-BD95-CE2C2600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958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2546419-2B09-4600-8A51-00DBED05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8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B00A18D-047D-4CAC-AC07-61EDC0C6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38675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Idea prompt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7BCCF36-EF05-449C-A666-8AE94B31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3086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 am studying [market] on [timeframe] because price is near [level]. The indicator says [context]. I am wrong if [condition].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823824E-A215-475F-AE0F-CF0DC303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9580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46B63AE-7EE8-4A97-9CB3-541C9695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95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2DF5FE6-B3ED-4EB9-824E-88F9A37F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9117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991CB79-1C9F-4F5D-A2A2-1F65AD7D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958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9CB982C-48BE-4665-BD3F-51086688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958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AF5BBDD-0074-4CF5-B4B6-F83A8535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95800"/>
            <a:ext cx="38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867927-6736-4546-8320-D99656AC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38675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Quality check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96F701D-35D0-46A5-AE5E-736E710B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53000"/>
            <a:ext cx="3086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Can I explain it in one sentence? Can I show the level on the chart? Do I know where the idea fails?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62F27A2-BD90-454F-8017-3FEE805D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958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CAF18E9-DA43-465A-A9DE-F71A1AEF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958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5E01001-C524-4C55-881A-BB582D31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9117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5B3D00F-7816-4A7F-9366-BF2AF30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958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5F50075-3D1A-4629-B924-45E4114B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9580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295F583-CCEB-4379-A05F-B47A77EF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95800"/>
            <a:ext cx="38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A73549D-25C6-40A2-96FE-84D2C28F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38675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Product implication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50D8F1F-3B72-45A4-9A84-75D92120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53000"/>
            <a:ext cx="2514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builder should ask fewer vague questions and more chart-specific ones.</a:t>
            </a:r>
          </a:p>
        </p:txBody>
      </p:sp>
    </p:spTree>
    <p:extLst>
      <p:ext uri="{BB962C8B-B14F-4D97-AF65-F5344CB8AC3E}">
        <p14:creationId xmlns:p14="http://schemas.microsoft.com/office/powerpoint/2010/main" val="14004785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60D2A2-073E-4B11-AACF-F8B2B8E5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111FD-C425-4C64-8BA0-99B7E44C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DD135-3295-43C4-B90A-9D868C00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2138F-7E17-45A2-B087-FAE0C627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123A3-0448-49BF-A9F9-EFBCBCC9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E5C74-9A9D-49C8-A339-88114F57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55670-4F7E-41FF-804D-89FFAD5B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55025-BC96-444C-9630-DBE3D1BF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1EBED-F5DC-4D26-91FF-B08BE1A4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9DB62-C9F7-44EE-A221-CCB8C0AB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EB5EC-4323-454F-AA6E-2E5CD392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E79EB-8BAB-431C-889E-B5ABACDA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1B5B8-D558-4A20-A892-DDA3C7C6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6B596-92AC-482F-9CC2-77903D5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C9727-A5D5-417A-810B-46F4496E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1FC6B-667C-4146-8EC0-CCB1BC4E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4D5B3-484A-463C-ACBF-1FC44C9F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7994A-78E9-40FD-A561-2E22C3B2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E2333-381C-4D4D-979D-8C80D225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B393F-0817-4336-B071-16122649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487F1-AD5C-4BEE-A97B-98439622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58FCA-D7C6-456E-B05B-3D7D4E4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937CC-8399-4258-BCBC-4AF56338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AD315-4B48-467E-BFD9-0A14B61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11384-D070-4FE6-BB33-F8777C3C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42C508-4C13-4426-A3A5-3E9D8E58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2B100-13F2-433C-80D8-0E6F6C3D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448325-EE60-4FFF-A692-8B32F19D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46A1D-C442-46B5-96E5-98D2C2C3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9613DD-B03E-44F1-A050-CE2189E1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DCC736-2C87-4244-9DD2-4E7B400C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3FEC5B-B760-4282-89AA-3636AFF0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5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PAIR SELECTOR + BASICS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33BEF1-D75E-43C9-80EC-E79665EF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educational paper planning - not trade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56A5A6-1603-4803-95F2-2F1C27BD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NEW IDEA INTAKE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F66782-015D-45C5-A70C-9B73368C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Make pair selection and chart basics visible before the user writes the plan.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5492B3-0D4C-44C5-AF30-D9B50B6D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85950"/>
            <a:ext cx="804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This helps beginners stop guessing at random markets and start comparing one chart setup against another.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BEE5C3-8D5A-433E-A5AC-C20A548A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4647E8-7F9F-48B1-8E29-05FAC70E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idea planning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F3520C-69F8-42F5-87CC-D70796C1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43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5FA191-677D-4DA1-AC65-CA0F0F63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9770D1-925E-4973-B005-6E67090B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E54FF0-E3EF-4E33-B2B4-3D69D047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8DDCA4-214A-437A-9A63-E787CF90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B836C0-52C5-4727-B56E-430CFBF5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3431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06EDF6-E143-4F91-9C4F-6F68F33D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BTC/USD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F077A0-A52F-4B96-9CD3-248E9542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431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5C06F9-4099-4315-B7D2-35DC4338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4315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B59EB2-10A8-4420-AD83-EE1ADD47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38425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72CF8C-30FE-46E8-94F7-F1ABDA4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431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A95111-7974-4926-BD34-CFBDCAAC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431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3B0E8B-DE4C-4749-B3DF-858347D1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1935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ETH/USD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BA5823-DCB1-49E5-9A70-7B8903C9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431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EA0907-C5C3-43DB-84C9-AC5865DF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4315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C989DD-6FC9-4BF8-98C2-051B2975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38425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E08D4D-7A68-4B2A-8CDD-03B47090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431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041527-8FC2-497D-9753-A508CD2F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431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254592-4804-4FF9-98FF-6ED6AF41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1935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EUR/USD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AA504E-57A2-40E0-BF45-5B4215D9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D41C9F-7C4B-405F-8BEC-EF5CE174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A8DAAC-C71D-4530-88F3-E46C69F9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38425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8B42BC-F45F-4965-B150-B14BE6A0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6F1525-D70F-40F2-81ED-8803BEC5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431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912212A-32F9-4DEA-A134-9EDE0C71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1935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AAPL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12A88F-0D15-4F64-B184-5AADFB14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431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ACA1CC-F146-403A-9F45-8081243A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4315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040351-07D7-46EA-8409-395838BC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38425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1DB7ED-19AD-4370-96A5-FF94DF5A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431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385950-4A91-43F4-916A-B32EF605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431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CB60C20-BA9B-4A18-B57E-4DCCB3D7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1935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SPY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B1A6012-4465-4F4F-B631-C49B7DFD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9026B4A-40ED-4F85-A50D-C1006A8F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1B77BF6-E1D5-4C61-BFF1-E3BC5466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38425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1275246-A8FA-4168-9C25-EC062C7B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A44381D-9133-499F-B8B6-B2E23926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431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F545AA-1C48-4B3B-90A5-A302CB0B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GOLD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5F14C75-85E6-43F2-BCF0-E17446CD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3524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04B9D49-DF64-467A-A24B-CB745709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EBCE8C-189A-4BD7-BB4F-B78378C2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7725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209888C-F60E-4FC4-B6E8-AC0BA172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95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F915FAA-6C62-4032-9139-CF8A1DC6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14650"/>
            <a:ext cx="95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B8A44BF-4026-4362-A0A2-DC0848AE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38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74598F2-6E5D-4BBB-A65E-4BDF302F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Pair dropdown should show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CA694F7-2613-4963-B466-867D0B8E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3181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Last price</a:t>
            </a:r>
          </a:p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Percent change</a:t>
            </a:r>
          </a:p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Asset class</a:t>
            </a:r>
          </a:p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Beginner hint: crypto moves differently than forex, stocks, or gold</a:t>
            </a:r>
          </a:p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Default timeframe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9EB768F-56F4-4021-9E31-7B74CA04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14650"/>
            <a:ext cx="3524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9ED409C-D185-44DC-917D-9F0C0C54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146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6D288A0-9A2B-4E0B-AA38-FE363C3A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57725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247422-6967-4BE5-96FA-1617BDD4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14650"/>
            <a:ext cx="95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14226D2-C7D3-4F0E-91EB-203A24FA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14650"/>
            <a:ext cx="95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2FC8906-BB26-42E3-8078-2496826B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14650"/>
            <a:ext cx="38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D93C1FA-C03C-4B43-8F4A-5F32F204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Charting basics to ask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8B27CB7-46EE-4AB5-B652-CC1B88C3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3181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What is trend doing?</a:t>
            </a:r>
          </a:p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Where is support/resistance?</a:t>
            </a:r>
          </a:p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Is price near the middle or edge?</a:t>
            </a:r>
          </a:p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Is volume confirming?</a:t>
            </a:r>
          </a:p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What indicator would help here?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1334575-FFA6-41A1-80D8-2A5685F0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3048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4804B6D-9E10-48BB-A6BA-C9488D3D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93FF962-13A2-4DF8-BBCF-FA1E5379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577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BD8C8BB-F654-4AD0-8156-A1009295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95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7501110-E928-4502-9F38-31044E50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2914650"/>
            <a:ext cx="95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9353BD0-317F-4794-B1EA-DBF47016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38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7EECC1C-7ACD-415D-9451-DB8520CD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57525"/>
            <a:ext cx="2705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Usability gap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C961918-911A-4D27-9629-D879BAE5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2705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user should not need to know what O/H/L/C means. Label it as Open, High, Low, Close until learning mode is off.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E6374A9-E416-48E6-A207-E6707B04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6113858-209C-43EC-A4B6-4F7FBB99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A7CD4CF-916C-4540-B0C2-2A344C6F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415F71A-E3CF-4C29-9CFA-3580B90E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5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EE623CB-88BC-4B02-A0E0-3089828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953000"/>
            <a:ext cx="95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EFFAE8C-54A5-46E2-A62F-F4203911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75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Planning output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9341F19-64E6-4E79-AD69-2FFF9E4C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975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Selected market + timeframe + current price should flow into the plan automatically so the user does not copy numbers by hand.</a:t>
            </a:r>
          </a:p>
        </p:txBody>
      </p:sp>
    </p:spTree>
    <p:extLst>
      <p:ext uri="{BB962C8B-B14F-4D97-AF65-F5344CB8AC3E}">
        <p14:creationId xmlns:p14="http://schemas.microsoft.com/office/powerpoint/2010/main" val="15690500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A88A62-C15C-4DAE-A301-D98E5666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10D27-9675-4687-B744-7F08AD37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C05DA-D805-478D-802D-D2DED3C8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2DF5B-AC1B-424B-88D5-C8B8FDFF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7CB1E-DA4C-4271-BCE5-A7DA6BC3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B37C6-F8D2-40CB-B310-6E20D011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86C21-3373-4839-ACAC-2C4CA1CE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0C542-5258-4E2D-A417-4F7BF5DC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74929-B398-4A59-89A9-79A23D57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BE10F-8BCE-48A6-A485-F28B80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F67AB-28E5-4D13-B250-91CAD7A3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CCDAC-D202-4899-B202-39D87180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EE86A-9D78-4E9F-85A1-0BD6DD78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DD614-AF9A-45FD-805A-FC0D6801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2D1EA-D7DD-492E-B505-D3150E11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77D6E-AD3A-4E91-ACEB-67A15959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85DCC-DB0F-4A40-8311-55148CA4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98935-F06D-4FB3-B7F7-7CA6A3DC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3D856-B3FF-404B-A87F-E69342C9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60DDF-DF09-4D5B-AC2D-6ADDA415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2DA6E-726E-4F77-985F-8DD7CC85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767AB-D105-4507-A088-D4C918EF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55F7F5-44AC-43E4-96AE-F6A22E92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90946-6EBB-4466-A7C4-34C80DA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91418-1CF4-4BED-92B6-66D949BF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F9672-607D-4EC0-B936-11119495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4C1B4C-3361-4974-921C-6ACCB0D1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31D326-DB2C-44ED-B8A2-AC1A05D7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887616-C0B0-4772-BC10-A0DED157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7C91D-A8D1-4297-AAFF-D711D6F4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FF83B-D06A-4B0C-ACF0-9D270E35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3DA70-3248-45FE-A374-7421D0D9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5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CHART READING SEQUENCE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D00C9D-EA01-4FA9-B8CA-841C837F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educational paper planning - not trade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FC6B6A-1BCB-47F4-BDBA-56159897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PRICE FIRST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CAC745-6A7C-4EA7-AB75-8B4D9839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beginner flow should teach a fixed read order before any indicator is introduced.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CC97EB-2011-434A-AF82-BAC06D98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85950"/>
            <a:ext cx="804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Indicators are useful only after the chart has a location and a question.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C360FC-438B-4849-83A1-B68D6C27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2B4B1A-7F22-4207-B959-7FCB8FA8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idea planning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5C4CAE-C5BA-4885-B1EC-9C921D1C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43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F7E449-23F3-4A3C-BFDC-1FEF9D53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000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3A90BB-D062-4AE0-9A95-26379FDA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E3AFCB-0777-4841-B166-EB2B37AB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592437-191E-4B16-AC65-15B6FB77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936900-ECC1-4183-8DBF-EA21A8D3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3431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3D4120-BB7E-47AA-8F41-CFA44BEF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77548B-A8D5-45CB-8FE2-671B03D4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CA0532-1630-4FCA-BB64-44AB6916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C6DBA7-1FB8-43D4-A51F-F4A17F7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00A4B7-BE4C-47B3-9AEF-1B068263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3431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5258A3-1FD3-435E-B54C-FF387A14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431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52386B-483B-4503-AFE9-E998A646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3431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ABAF79-E8E5-44B8-A9C0-91A6FD84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70FD6A-D2DC-420D-8331-DCB3D3D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3431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4EFB86-2B32-4FB2-8DC0-5A0D0778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06" y="4144108"/>
            <a:ext cx="19050" cy="5594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CAC6E5-CE7D-43C8-9EAC-247DF383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06" y="4277458"/>
            <a:ext cx="95250" cy="302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B2540B-6677-419F-B370-EA662608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67" y="3450614"/>
            <a:ext cx="19050" cy="988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B2B3BA-4123-45D6-B860-F83057AE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67" y="3612539"/>
            <a:ext cx="95250" cy="664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1D2A83-CE1B-4C32-BA78-B61BBE9E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228" y="2998910"/>
            <a:ext cx="19050" cy="7374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BE9CCB-478D-40B6-80D3-0B752546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28" y="3189410"/>
            <a:ext cx="95250" cy="423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118D5E-CBE6-4AA6-9AB3-FF8C7AF8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990" y="3056060"/>
            <a:ext cx="19050" cy="4766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69D5E0-E275-416E-A6BF-FC93A6A2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890" y="3189410"/>
            <a:ext cx="95250" cy="1813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C920A5-A722-471D-BB83-1EC3CF1F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751" y="3208826"/>
            <a:ext cx="19050" cy="829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35BB0D-0424-400D-9E25-9D46E80A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51" y="3370751"/>
            <a:ext cx="95250" cy="544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BC5AAB-1DBD-4759-81D0-B16D1FF7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3724275"/>
            <a:ext cx="19050" cy="107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47226C-3F77-495F-9626-CEF01A20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3914775"/>
            <a:ext cx="95250" cy="725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2E8892A-467D-4D3C-B9D2-D70C7C36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274" y="4506790"/>
            <a:ext cx="19050" cy="5594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A8F0E98-C882-4DDC-A19B-CB1EC939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174" y="4640140"/>
            <a:ext cx="95250" cy="302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DF23B9-F5C5-40F6-BB9D-D382DC08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035" y="4417768"/>
            <a:ext cx="19050" cy="686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40BB14B-B15D-4390-A76F-F702CA11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935" y="4579693"/>
            <a:ext cx="95250" cy="3626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147E92-B7FB-402E-932C-F9225E4D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97" y="3663828"/>
            <a:ext cx="19050" cy="1039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3E26577-E68F-4EC9-8FD5-0849EC53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697" y="3854328"/>
            <a:ext cx="95250" cy="725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B43F406-BC00-4ABA-999C-944E63D5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558" y="2814271"/>
            <a:ext cx="19050" cy="12019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8359EE3-91A9-409D-922B-963BF2FE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458" y="2947621"/>
            <a:ext cx="95250" cy="9067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677EC7-B9A7-48DA-AD46-7C180215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319" y="2785696"/>
            <a:ext cx="19050" cy="7693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4FDC25-B637-4B15-BF06-396BE7B2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219" y="2947621"/>
            <a:ext cx="95250" cy="4835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DB9DE29-6F8E-41DA-805A-C8810F0C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081" y="3240698"/>
            <a:ext cx="19050" cy="107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2209883-8725-4C9E-95B5-42D558D4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81" y="3431198"/>
            <a:ext cx="95250" cy="725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1C37E40-5E02-4116-BA2A-11D8C6D0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842" y="4023213"/>
            <a:ext cx="19050" cy="8011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62AA283-72C7-49A4-AD33-A59D1A4C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742" y="4156563"/>
            <a:ext cx="95250" cy="544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A925114-548C-47AB-80CA-3D4E086C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03" y="4296874"/>
            <a:ext cx="19050" cy="56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889AA3A-7AF0-44A4-A9C3-F4FC79D6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503" y="4458799"/>
            <a:ext cx="95250" cy="241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9DD7F88-A841-4458-AB65-B42AB1A9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365" y="3422039"/>
            <a:ext cx="19050" cy="11605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52CEE8C-4F52-424E-8C31-1AA44964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265" y="3612539"/>
            <a:ext cx="95250" cy="8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A3FE1C-C9F7-4401-AC53-A46531F3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126" y="2753824"/>
            <a:ext cx="19050" cy="1020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BA8CA7-F5D8-462F-868D-55483F92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026" y="2887174"/>
            <a:ext cx="95250" cy="725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B312E46-5168-4587-93D7-3181DF3A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88" y="2725249"/>
            <a:ext cx="19050" cy="70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A29F0C1-7165-4602-BAB5-E1BA9A19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788" y="2887174"/>
            <a:ext cx="95250" cy="423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D072424-06B0-470B-89DE-8E5C3AE9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49" y="3119804"/>
            <a:ext cx="19050" cy="107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B2E64C0-3FF3-473C-870A-E73E76BD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549" y="3310304"/>
            <a:ext cx="95250" cy="725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A868CCA-7462-4955-B8AF-14197E8E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410" y="3902319"/>
            <a:ext cx="19050" cy="8011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E92F13-93BF-47BB-8FDA-CA5419C7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310" y="4035669"/>
            <a:ext cx="95250" cy="544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BBEF003-EBB4-4B7A-A8DC-53639DBA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172" y="4055086"/>
            <a:ext cx="19050" cy="686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668E5FA-2BEE-4667-902C-815A9F38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72" y="4217011"/>
            <a:ext cx="95250" cy="3626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1A0A8BF-D988-4E66-8096-810B2FD2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33" y="3361592"/>
            <a:ext cx="19050" cy="9792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EE97839-C840-42EC-8AE4-2AC000C0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833" y="3552092"/>
            <a:ext cx="95250" cy="664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B302FF8-71E4-4DC6-ABE8-9A1B5D29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694" y="2935165"/>
            <a:ext cx="19050" cy="778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D877BF9-D25E-4D2F-B825-19FFEDEE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594" y="3068515"/>
            <a:ext cx="95250" cy="4835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3A802D6-C594-4709-A0C2-FFFD8A3E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8C13909-D363-46D3-BE6B-7AA9ECE2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2818808-D6BF-4CD3-9EC3-D0BA2D08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9A32E9A-76CD-464A-96E7-61F46813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669CBE3-97F6-4A3B-828A-91EA069D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FCD784F-7953-482D-9E6E-B0C1BD81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0DE25A2-AD3C-4104-B164-E81F7FD8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0B8B307-294C-4479-B3E6-7897527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EA222A6-9A22-49B2-8137-7E49E324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F13B2B0-228E-46BD-9E67-9DBDFE1A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C28FA09-DAE9-4573-AD37-8CCDB278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013FBB1-5766-46F2-B0E8-8145D8BF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6B54013-5DC3-4B70-9233-1253BA5E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1EC2BC0-AB2B-4931-9FA8-68BF627C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3DCD3FE-6424-4B52-8B34-F8750EBF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F511100-7AFF-45FF-B7B3-66FE64BF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9A61BF4-A350-4F1C-AC9C-E59AFA6B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13B7B23-50BD-4EB1-9787-8B81781C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BF724F5-E45D-4B89-9F15-F4E5E0CF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47F1E7A-386B-46E9-8805-7C8017C1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552A93E-F679-4B69-AC8E-79A8594B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2ED9997-A7E2-4071-8CF8-108F0F07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B720E3F-66EB-462A-BEF3-B2F6F48B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5B69E55-2225-4DB3-8283-2996DFE9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D0931A3-A727-4791-9250-CA0DADDA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16CA4CD-C585-4F05-AA85-593A7740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27066BB-A0E6-4E64-B3C2-6B3C574A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124920C-E273-41AB-BC80-45815696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DE76285-2130-46B6-9060-25DBF32D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519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DC836D0-ADC1-4923-953D-FB826A5E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4713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rPr>
              <a:t>96.80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22DACC5-33A8-4FE8-A201-01C26182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1467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resistance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C76FF1B-9458-4117-B4BA-ADEF3A55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8152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DB0ED6E-589F-4F67-B371-60A48A04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070E085-7DB4-4E02-8BD5-A9F1EC94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58" y="524827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54437F0-5F7D-489F-B01A-9EEE53FA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317" y="520065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74FDE1C-A6C7-41AA-8793-4655C84F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875" y="5153025"/>
            <a:ext cx="1047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26B2AC8-E0B5-41C7-AE19-68BB6E17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433" y="5105400"/>
            <a:ext cx="104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53B0A2E-71DC-46CC-AB8A-BF45E2F5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992" y="529590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921CFF1-D469-4474-A6C2-484D4974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550" y="524827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3399671-4406-4011-B74D-E6DC8074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108" y="520065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949F2EB-09A1-46A7-B601-EF2BD928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667" y="5153025"/>
            <a:ext cx="1047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87B5EFC-16E4-4006-9210-EBAE8D89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05400"/>
            <a:ext cx="104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C1870ED-EC04-4735-8DB9-EE138790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783" y="529590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933CBBE-8FEF-42CA-BE3D-57A95C05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342" y="524827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284E74E-E7CF-4B0F-B13A-0D6A66B3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900" y="520065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7FCA195-4EF6-4194-91FA-230360F2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458" y="5153025"/>
            <a:ext cx="1047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A1B365F-0747-4B08-91E7-5ACFA8C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017" y="5105400"/>
            <a:ext cx="104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58CD364-D022-4333-913C-803A60AF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575" y="529590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0BE1C5D-303C-40C5-90D4-FAD4FC06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133" y="524827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2FCB0CA-C2F2-4426-AF0C-C53F6CD5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692" y="520065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A7F8FF7-54CB-439F-846C-E7E4B53D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361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5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VOL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897BD1D-C728-4795-A7B6-8386D3F8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05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E368247-16F1-4241-9B77-C5759959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05050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CF92738-E198-42A0-AB97-BBF91A82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14625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3515507-D96A-4C68-B4B2-028A8C78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050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B3A3D95-63F0-4E42-90EA-FC730D73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050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4AA394E-A1FD-48E4-88CF-AA952C71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907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7E67694-4FE8-48D3-B758-CA3959B7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1457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Trend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E575294-F059-4B8C-BD8E-18D2A772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Are highs/lows rising, falling, or mixed?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DA02A56-F590-4527-85AC-7CE346C8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E5FE366-9C75-4F5A-83EA-89CFBCF7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8912F41-21E6-4912-BCC5-A0D2C13C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62325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0F05C56-B53A-4C13-9B11-60B4239A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CF8C928-D5EB-4F41-9D07-79BBEC35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B98D002-2592-4571-ABD5-1B46C156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384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4555002-09BA-4AB4-B3CE-0E518854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6227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Location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B658904-01D3-40C4-A7FB-4C716FEE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90875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Is price at support, resistance, breakout, or middle?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05F7023-5899-4435-8595-9DDC1DBC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0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B10689F-82E4-4D90-BED2-EB02EEE5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0450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BA6010F-F908-4B19-90CB-8593CCBB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0025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4E16C71-A710-4BF1-B5E5-F5FB75DA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04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27EA32C-F1F0-4383-84FF-14C4421C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004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F898B14-CB22-4347-A62F-DBC8FB5B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86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1AD0752-B460-4A52-8D36-0D861BE9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997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Candle behavior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395C2FB-2275-4EB9-BEC9-A32D8BB3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38575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Is the candle rejecting, breaking, or drifting?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5132EBE-5576-4FD8-8190-72CC2A80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48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8B3515B-D636-42CB-905C-59773910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48150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A0BF608-1014-47F5-8D03-8BBB6C64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57725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40B7081-AD85-47AF-B744-EA9B6137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481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DCE437D-119E-4F43-B61F-9890923B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481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9D5746D-B178-46A7-BB3A-38BEF2E5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33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E162A71-C8A6-4787-ACA1-C90F01E6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5767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Volume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724D4EE-B9F3-4DB5-BB89-38E5778F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Did participation expand or fade?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C56224F-9559-44C0-A32A-98C0C85E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95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F45B2C2-9707-4FAC-9028-B30897D8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95850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41D8862-65C2-4106-AAB2-63FB0FDA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305425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EC0B34C-B07B-4073-B08D-3DC6F3D9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958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770349F-4856-486B-84B2-FB5C1E20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958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A303761-C54B-4EDF-81D2-274FB75A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815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330EB0A-9B21-4D5C-8269-8910CD7F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0537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Indicator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07F7C1E-DCBE-4DC0-B31A-2EB4C00A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33975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Use one indicator to answer one specific question.</a:t>
            </a:r>
          </a:p>
        </p:txBody>
      </p:sp>
    </p:spTree>
    <p:extLst>
      <p:ext uri="{BB962C8B-B14F-4D97-AF65-F5344CB8AC3E}">
        <p14:creationId xmlns:p14="http://schemas.microsoft.com/office/powerpoint/2010/main" val="15775389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19A8B-D6D3-4943-BD31-E65A2EFE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504D9-77E4-4E41-BE2E-5E955E76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81A57-4122-4934-A49B-B16DCAD4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F603A-8C8F-4837-95CD-A5B2757F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C82BA-DF4F-4210-B7E0-CE0D5494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68330-186C-45CF-85FC-A63582FA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65254-B335-4AF1-9705-82D1BCEE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ADDD0-CCAC-49DC-BE4F-4AECB69A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1224A-F56F-48E0-8CF5-1CAF9328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A5125-0368-4A0A-8D23-C761E69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AE66C-88BE-40FE-BA48-10DD9DFF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BC2CA-DE4F-4F5E-A148-383398E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78D04-AACC-499B-821B-BA3896A4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601C5-7C85-4799-A287-6A79BA0C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CF1EF-8946-4F3F-BCDE-B6353343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8D5FD-C1F1-4803-BBB4-2122A98D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803C1-3BB6-4A32-8F06-D271FE0D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69E4C3-FBD2-4CBA-A9F6-128C8F1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00748-8FD3-4298-8769-3534993A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98D02-896C-489F-8841-B4C55B46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698B45-68CF-4441-9634-BDE993E1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71B80-1592-4F0A-9D2B-CE6E0782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C36C6-0538-4640-8AD0-7143FF24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0EA7D4-D7F8-4909-9743-604F7749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AC474-EDF3-43D5-9BD1-60F5DC6C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497E96-7B0F-486D-8600-D0BF17EC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54D51A-1129-4E20-B1AF-F63C8CF2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103997-6D78-4E9E-B0BC-B143F19B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3C1AF3-696F-4459-BD9E-593A379B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2FD669-C5CD-4B7B-887E-D377EBA7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EB6B61-3C36-450E-AAD8-59A7C0C2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68391D-5A11-4862-9CFB-5BA3B919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5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INDICATOR TEACHING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E9C2E3-A073-4AF4-9C1C-59A16BF0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educational paper planning - not trade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2B0B77-4AAA-44C3-882C-6F59B86B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INDICATOR CARDS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C9E171-6707-4407-A1BC-F3683C19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Every indicator needs the same beginner explanation structure.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9213DB-B98A-47A9-B330-D6CFD127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85950"/>
            <a:ext cx="804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This keeps learning mode useful without repeating the same sentence before every line of text.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69B804-9837-469D-97C0-6E2C5475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628D23-3CF2-4E07-B53B-A7330D87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idea planning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C50588-B05C-49AA-B058-23DC6B5B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43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74C9E5-8B59-454B-A3C2-34110F9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9240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A70A43-D577-4DC4-A3CD-32020C87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CD35AB-E1FE-4880-9BF4-783D4BC4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E13FF7-22D5-490B-A523-1FDDDDB1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2D344E-2248-4192-9F77-8762C132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47950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C935F6-49B7-4BA3-8946-698EAF09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38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3F7179-E7BC-44C4-952E-B222F91F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Measures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7FD4FA-D529-453E-A3F2-B973850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581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What the indicator is actually calculating in plain English.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FBF1E5-9FAC-4E44-ACB1-04657E41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47950"/>
            <a:ext cx="19240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4D3BAD-95D8-41FA-913D-4C1C182F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4795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65FE98-38E1-4D2A-81BB-AA60B176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43375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F08C2D-8290-4A3E-B2FE-4E07526A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47950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9FC15E-080F-4A9F-81EB-C9FBD0DE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47950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07169C-5FCF-423A-BC6A-6A4855F5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47950"/>
            <a:ext cx="38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DB4607-D328-4DFE-861B-B730E60E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9082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Useful when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20304F-CAAD-4517-AC30-A5AD038C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1581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market condition where this indicator helps most.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8F246D5-FD64-4FE3-B1D1-36E97C8A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47950"/>
            <a:ext cx="19240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A2C30F-4113-4963-8F06-24637C49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4795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8775E6-AF5E-4408-9C70-D969D273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43375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9A2C24-E8AC-435B-B384-1795C273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47950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80A8D2-B2A1-4CC4-8B15-497CA877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647950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5F828F-DCB9-4644-8927-CECB768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47950"/>
            <a:ext cx="38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B52029-B1DB-4058-895F-178386CA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9082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Watch out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206A4E-1761-459B-9CC3-46EFA0EF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05150"/>
            <a:ext cx="1581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Where it fails, lags, or creates false confidence.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349481-5014-4240-B84A-13A582B7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19240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C9AAA0-E303-4200-B043-BF1C5E63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8DF99B-F28E-4E7E-8994-A1F5D688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DA848C-C14B-4BD7-AD98-87A191BF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8A241E-CF11-4D0A-96BB-5E87AB6D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47950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28F4D3-C94A-4A09-B477-22ECD03E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38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90543E2-6809-431B-B373-518665AA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9082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Confirm with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F830E54-4A97-494F-A295-8118CAFB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05150"/>
            <a:ext cx="1581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chart evidence that should agree with it.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777B813-689A-4CE1-8EE0-FD232F16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47950"/>
            <a:ext cx="19240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ECDB44-B82B-4765-865A-5B582A20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4795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79A804E-C651-4065-924F-314491C8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43375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BC0754F-46FF-47E1-9B5F-BDC6A80B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47950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5A8FEE-FFC0-403F-B15A-98829E9A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647950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BF10ED3-F2F0-4DF8-A064-A4984E3A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47950"/>
            <a:ext cx="38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2D92F4-DCE0-41BE-9837-2721A773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9082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Beginner question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15F9008-280C-4750-B076-EA691ECE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05150"/>
            <a:ext cx="1581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One question the learner can answer before moving on.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0294373-5E3B-4CB3-A4A6-4A2EE77B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C2B9F49-7919-4101-8620-3EBE6DEC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57A785E-60D2-4B9E-A3F8-16B3D96A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57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849AC30-FC16-4A08-A589-4B05B206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826DFFB-D46F-4872-9863-6E7BA537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5910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1E6C014-B014-4E64-92D3-6270A143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E1D233-75D6-4916-9CA2-69064404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33925"/>
            <a:ext cx="899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Core wording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97D8A09-F6D7-46C2-87C6-1D77816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899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An indicator explains context. It does not approve a trade. Price location, risk, and invalidation still decide whether the plan is worth practicing.</a:t>
            </a:r>
          </a:p>
        </p:txBody>
      </p:sp>
    </p:spTree>
    <p:extLst>
      <p:ext uri="{BB962C8B-B14F-4D97-AF65-F5344CB8AC3E}">
        <p14:creationId xmlns:p14="http://schemas.microsoft.com/office/powerpoint/2010/main" val="19621306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01FB3-124F-4B81-AF2A-F239D4D7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D196B-505B-4846-BE56-56DD45F2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203B5-2165-4C28-B021-2CA51805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DBBEC-71CA-4C4E-8626-5EB1CF43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E0D25-DB58-4EF8-A9E9-C70C415E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F0AB4-C4B7-435D-8F04-C24891FD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B9186-FAAD-483C-A107-B9C9CE5D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119A6-25C5-4979-BA0E-455BAFA6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0D56B-3CE3-4807-BFC6-FF356E7D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EA125-CC90-4D6B-A5D5-EFE51DF1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B186F-468F-4E7F-AC6D-0E2E0072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3C14E-1541-4B5F-B679-C865ABD2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1853F-6C81-440C-8C88-D063B173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E09D2-6BF9-400B-8142-2634C09D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B6C1F-1E7A-4924-942B-E86979E5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58E96-BB43-4CC4-9184-DC5AB774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23CCD-77E3-4D6E-A1D0-F158C12F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EFB7E-1A89-466D-B641-DE03325C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EE610-29EF-4C2C-93A1-25C8760C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8D7CF-E063-4E1D-B3EE-B5219BBE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987AD-C909-4855-B688-E64B9EB8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B5DE0-AADA-4D65-8175-62739204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CD672-17C3-4792-BD29-C8B3B6E8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D9BCA-3102-406F-8BFE-83184092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D25980-3FEF-4259-9A92-BF473AAD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DA4AA1-9C87-4D00-A2A6-514BB98E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2BD108-31B7-4083-84EA-3B4C3B16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28E7B9-2BB2-4AE6-BF14-0F683F29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E365D9-2C7E-4F90-947E-18F3CEE3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4D4AFB-DB4B-4A10-B299-9633D6B6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C3B4A-78F5-424E-B105-F6BBD3C7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AC8459-9C73-42CD-B74A-0C2465E2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5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INDICATOR 01 - MOVING AVERAGES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FCC654-2A99-483A-BE45-C8FD5D04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educational paper planning - not trade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590BEF-56FC-48AE-9D73-4C0CDD8C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MOVING AVERAGES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B55D41-BCE3-461E-A07E-063AEEAF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Use MA/EMA to explain trend direction, slope, and pullback context.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6C7D15-4F9D-405F-9E34-1C26FB67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85950"/>
            <a:ext cx="804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Best beginner use: is price above/below the average, and is the average rising or falling?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49548D-9D9B-4B97-9CB1-FB4F7EF0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3AF2F2-816E-4F75-96D7-A6F6CFB0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idea planning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D88E55-B22A-4F71-A080-0D2D0768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43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9985AC-917F-4356-B6F6-4F5DF9F1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58102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DE26DC-2BA3-4275-A5BA-43844B79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D2B60E-5BB1-4A66-8240-8EF79F08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A3E57C-C702-4B8E-BFA3-51D20FE1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9525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6D3C31-C356-4649-A082-C20723CA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00300"/>
            <a:ext cx="9525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9C54CB-7A5F-48D5-AA56-3820B322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704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C8EEA1-92F7-46DD-8937-5D6D7D3A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378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A02E93-0C46-43E0-A4B8-D8AD2D9F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052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76D0E2-35C7-4127-9456-75852F29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726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C2C748-3B7F-4E42-A725-703D62A5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075" y="2400300"/>
            <a:ext cx="9525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33942F-BEDA-4DBA-A2AB-A3188C8F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50" y="2400300"/>
            <a:ext cx="9525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102271-3C0E-4E1F-A2FB-77ED1A2C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9525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8348A1-41AE-4FBB-BCF0-6AD3F155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400300"/>
            <a:ext cx="9525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5A9B07-1F4C-4BD7-95B7-EFADB2B5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575" y="2400300"/>
            <a:ext cx="9525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811393-6583-49C9-8C30-542E98E8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226" y="4072304"/>
            <a:ext cx="19050" cy="5392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ED6072-0B4A-4FFE-8773-2EF879AA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26" y="4205654"/>
            <a:ext cx="95250" cy="2820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FFC692-29E8-4F84-88BA-86473077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328" y="3423138"/>
            <a:ext cx="19050" cy="94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EB959A-AF95-4D03-A04D-8FEDF6DB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28" y="3585063"/>
            <a:ext cx="95250" cy="620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4693A4-C2FB-4958-802E-A6803709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31" y="2999642"/>
            <a:ext cx="19050" cy="7092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1B1A24-089F-44B3-892A-395BD637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31" y="3190142"/>
            <a:ext cx="95250" cy="3949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8F70E8-B969-40CE-A18B-3711385F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533" y="3056792"/>
            <a:ext cx="19050" cy="4645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4D72AE-736B-44D9-8FCD-3E725766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433" y="3190142"/>
            <a:ext cx="95250" cy="1692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C24C3B-D783-4CED-9E3B-B77861B5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635" y="3197469"/>
            <a:ext cx="19050" cy="793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B11CD1-5973-44F4-9D3A-F46A5E80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535" y="3359394"/>
            <a:ext cx="95250" cy="507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409C548-6020-4299-96DF-76F8A044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38" y="3676650"/>
            <a:ext cx="19050" cy="10294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0AEE6C-1E53-494D-8DB4-97CA2016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638" y="3867150"/>
            <a:ext cx="95250" cy="677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53462D-F32F-4D21-ACF0-598ADB7F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840" y="4410808"/>
            <a:ext cx="19050" cy="5392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706252-CE65-46E0-9CD5-7110DD5D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740" y="4544158"/>
            <a:ext cx="95250" cy="2820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8B971D9-519E-4E9D-AFC6-A32CBFF3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942" y="4325815"/>
            <a:ext cx="19050" cy="662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CCCA650-D6D7-4D4C-8A6A-C9F06BB0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842" y="4487740"/>
            <a:ext cx="95250" cy="338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B1AF380-7351-4645-9FA1-01C894F7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044" y="3620233"/>
            <a:ext cx="19050" cy="991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474CFE3-158A-487A-9710-A0F15A26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944" y="3810733"/>
            <a:ext cx="95250" cy="677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8696BB1-50BE-4F3A-92B2-E4626D5C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147" y="2831123"/>
            <a:ext cx="19050" cy="11415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FE1C293-5875-444B-B813-6A5261E7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047" y="2964473"/>
            <a:ext cx="95250" cy="8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EECA32F-6342-4833-B0DE-2DA7EB4D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249" y="2802548"/>
            <a:ext cx="19050" cy="737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8923F2-C8B2-414D-8F6A-31F72E68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149" y="2964473"/>
            <a:ext cx="95250" cy="451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FAE1B24-DF4E-414A-9B86-36C65F4B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351" y="3225312"/>
            <a:ext cx="19050" cy="10294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4A7CD2B-0BA0-411A-8939-74821A06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251" y="3415812"/>
            <a:ext cx="95250" cy="677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4600366-F171-424D-BAA3-3A0137CD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453" y="3959469"/>
            <a:ext cx="19050" cy="7649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F80EAD8-5AE4-42A1-AB59-AB0A7647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353" y="4092819"/>
            <a:ext cx="95250" cy="507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4053BBE-8423-4C5B-89DF-DA8C627E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556" y="4212981"/>
            <a:ext cx="19050" cy="549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1502AB0-F817-4661-918D-0373BDAD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456" y="4374906"/>
            <a:ext cx="95250" cy="225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6B0F4D3-0FDE-48CB-963C-1485CFF9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658" y="3394563"/>
            <a:ext cx="19050" cy="1104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41B1114-31D2-4193-849A-4175F7A1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558" y="3585063"/>
            <a:ext cx="95250" cy="7898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1FE8106-4E84-4C1D-91D6-98355893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760" y="2774706"/>
            <a:ext cx="19050" cy="9722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BEC7D6E-AB85-480A-9256-C79F6EE9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660" y="2908056"/>
            <a:ext cx="95250" cy="677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35A6CDC-B702-4A9B-B399-EA832CB2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863" y="2746131"/>
            <a:ext cx="19050" cy="6806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A19C006-B2D0-421A-9396-159B946F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2908056"/>
            <a:ext cx="95250" cy="3949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9BAB37C-AAD0-4E39-8FE1-2F079B13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965" y="3112477"/>
            <a:ext cx="19050" cy="10294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3CAB042-0CAB-475C-89DF-11BBAEEC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865" y="3302977"/>
            <a:ext cx="95250" cy="677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9BC34A3-1922-43D3-B202-58E297F6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067" y="3846635"/>
            <a:ext cx="19050" cy="7649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2F2417E-729A-44D0-9B7F-E7CE2229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967" y="3979985"/>
            <a:ext cx="95250" cy="507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3218C72-E856-4397-BB8F-8D42C4C3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69" y="3987312"/>
            <a:ext cx="19050" cy="662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8F32744-D142-405F-9DDF-B28C49AB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069" y="4149237"/>
            <a:ext cx="95250" cy="338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1D6CA00-A97B-42DF-B9C8-D8880258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272" y="3338146"/>
            <a:ext cx="19050" cy="934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5090FE2-3BBC-494A-BA80-67093E91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172" y="3528646"/>
            <a:ext cx="95250" cy="620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F597F73-8E48-4F38-AFAA-0F9B3DEB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374" y="2943958"/>
            <a:ext cx="19050" cy="746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F31A53E-BF10-4FBA-8969-7DBB8AEF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274" y="3077308"/>
            <a:ext cx="95250" cy="451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DF9B75C-51ED-4681-9178-E529C33D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389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A76670C-DFD7-4E29-A1DA-809EDC8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041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42BA281-EFCB-4B49-89B6-37030BC2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9988948-EA73-4177-90AE-A0E2C1B2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0CCD95E-BF65-451A-922F-D48929B0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605DA41-1D5E-4D38-B255-C1C599B7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3F0D62-ECA0-4B2F-A7C1-D64BE8AF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010B4FE-F77F-4C16-92D5-C229439F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615E09A-90C7-41F5-94BE-1B9521EB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13AE3A0-60FB-4E7E-B4C4-6D77A920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2883BC0-64E9-45FA-848E-73FBF85A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E19EB8B-EE25-4F82-8C29-C04B1C0F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8280CEE-9C92-4BF9-92EB-83B89F53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D39BF07-D7CC-46F2-86CA-FADC5577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C94E121-58AD-4888-B1B5-1CF8EF20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F96ADE6-A6F6-40AC-94F1-0996DECC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9D8AC2D-C20F-4221-B679-72042BB8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2819050-12D6-482D-AE1C-999BAD9D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C399D49-2D30-4B4D-8B8B-4745F85A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A1DFE14-04D8-426A-AECF-3283FD92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E99ABA3-4BD6-475A-B24B-40D5631C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D573975-4319-499D-836B-1DC03B68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A8E4696-2DEB-443B-8190-53E33489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CA6C49A-3080-4A88-BC52-07501AE0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399A020-DE1C-4AE7-A1A4-9657A2BE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E77C283-C5FE-4950-9586-004E6C55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C37AD45-6713-4C46-AD30-A800FBFA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78C2196-86CC-4392-A957-905EA5FF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08476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5E86741-E99E-49DB-8CA6-635C4AB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03701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rPr>
              <a:t>96.80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2A82008-9340-4EFE-A9B7-B15B37AD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0896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resistance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1499BEC-8DBB-44E4-9F22-1D14D5A3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9199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BB4C761-3733-4550-AB2E-AB08135D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161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3E37BA7-21FD-417C-892E-220DAD62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385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5F23E7F-41B6-4105-B1B3-47065AD8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161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AD3AA89-D257-4588-AE40-20F3CA3C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81425"/>
            <a:ext cx="161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5B0ED3C-DB9A-4EAD-ABCE-373ABC35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52850"/>
            <a:ext cx="161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F732022-E226-4785-8152-70B928D5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7433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321129F-1963-4658-87E8-3847449B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242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1221E41-170D-4703-BCB1-5536C8A0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052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CC2E169-9760-456D-84A6-EC93922F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957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2E62BFF-3B0B-487E-8E6E-13F1D909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6861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E04CDE3-E260-4DCE-B5BB-516B5E96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766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C6F8D55-0C0D-440A-92D0-6B58E418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766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8D7F0F9-28F3-423B-B945-8A65B375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671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1E08F18-B757-4261-A9A1-378D1637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576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31C081C-FBBA-4F56-BE8F-A94E5915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480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89E26E1-8288-4B4C-9BB5-1DE8414A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480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D4158B4-6FDC-43F2-B222-4EF638F7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1BD2783-0F20-478D-B78E-BBF94A3B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290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320C54A-8B62-4972-9D1D-9B23773F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195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40B2AB6-7EC2-4E19-AE17-81A65AD4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6099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40214E3-3CC9-421D-A85B-6418883D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04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303E3BC-E248-4C1A-B256-7CB13670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909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3EBC90E-C922-4545-8FA0-8B7A9D76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D047648-E60E-49A3-81FA-3F08A50D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718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022BA60-AE85-4DB5-AC95-C6EDDC71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623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F26DD5C-58FB-495F-A1EF-92CE23D5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5528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F8B05B7-4AEE-4A87-81F9-8819E267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598C362-CC2E-4196-AE81-6807745D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337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4CF5A48-344A-4A9B-8CDD-EE0120A6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338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397B42C-5331-4936-B58F-7D3506CE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243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62C18A9-DC88-47EF-B53C-8D9BFF17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B2283C9-E687-4B64-BC2D-62297961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1DBFA94-6F71-4C0C-B900-A7909E6D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672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B888BFC-CE45-4FD7-AE7B-98D000BF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481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14516AA-0F3F-4290-B932-85A02056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386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5FD574E-1AB6-4D6E-8840-6D51360F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291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B5C817F-800F-47B2-97E2-B2012549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195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BA905CF-121F-4E0D-B3EF-57A51177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100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CB66A24-0B4D-4E96-AF49-8073E71D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00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6BB23D5-33CA-42B9-AADA-3DBB4E3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1910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5FB9AB4-526F-4C2D-9524-E620C0E0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814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E9D1F4B-A036-46EB-8110-AF2A9886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1719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197BD33-FCF6-4C3F-8CAA-6526000A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624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DA8FF31-0C32-4ACE-9CAA-021CD5BD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1529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D8CC9FD-9D03-48C3-A9F8-345B821C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433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9B141EF-21AE-4376-B054-8763C87E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338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678A267-D9ED-4DB3-B725-34BB3715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243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AA40511-6635-49DF-907A-9F8B2346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148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663DAB3-9152-4810-8AA4-70BCF029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052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01CE69A-61AB-435E-A5FC-927667E9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957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0AD6D57-09BD-49FA-BABA-78491370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862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FC4AE0B-AD2B-4987-AF18-D845C46D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767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5F81EB4-A58F-4375-A824-2E7746BD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671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4CF8E1D-40A0-4376-B94D-8EE9F682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576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8D05001-658F-449A-99BD-22A81ADC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481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A04F516-6C91-4DFD-BE37-2EB5C1B9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386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BE27EE0-6C78-40B3-BE8C-52B24DD6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433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20 EMA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044BC92-487A-4486-B16B-AE19F3D2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624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50 SMA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74CED80-D081-48FD-B17A-CB078F78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85B64CF-7112-4530-95A8-6FCE9FE2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58BD6B2-1B59-4B99-8FBB-6A6DEBC2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480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13B1153-02B4-492A-8B1F-1DC214E4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16635D4-B43B-4F4E-A47C-4279F5FA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3812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F661E10-A42A-496D-8D89-673E8586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2334DFC-EAF1-4F8E-83D0-69E4796E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2412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What it measures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F42F373-68D3-464A-ADB1-961C9642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384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Average price over a chosen number of candles. EMA reacts faster than SMA.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86AECFE-EDFE-48C5-8CD5-5B53304D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0F9E686-E504-4D8B-8DE4-6CB0EACE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3530908-667F-41C0-8312-858B6504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576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4CA36C9-1327-41EA-A454-9730C580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FE297D3-42A2-44EB-B797-DEA99A00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39090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F4267C6-F219-4762-910E-5260C115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387EB03-2DCD-4EB4-939E-14948FF9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337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Beginner use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040CD141-8FC7-4A87-B3AD-A2A23F7A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Trend context: rising average plus pullback can be cleaner than chasing a candle after it already moved.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E225E58-E198-49B6-B198-0C2BD860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03A1741-CEC5-4F4F-8140-6B6623AA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2A81500-B7F3-4771-9080-8166BF79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673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1032EEB-9919-4EF3-BD0C-FD42FECC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A0C2E49-A6F0-4E0E-8866-335F93CB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4005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D4BF655-1532-43C3-A4EC-6CE9BD62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80292A3-9D06-4945-934A-57209E67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4342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Common trap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80A4504-AE69-48B1-BBC0-C80F85F9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577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Moving averages lag. A crossover after a big move can be late evidence, not a fresh idea.</a:t>
            </a:r>
          </a:p>
        </p:txBody>
      </p:sp>
    </p:spTree>
    <p:extLst>
      <p:ext uri="{BB962C8B-B14F-4D97-AF65-F5344CB8AC3E}">
        <p14:creationId xmlns:p14="http://schemas.microsoft.com/office/powerpoint/2010/main" val="12603066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33B69-1F36-49DD-B86B-9D66B7FF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FFC78-5191-4899-BE2C-6E6BD5A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8110D-01AB-46A1-B938-F6572B58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F790A-2E75-4C2F-8327-D3EFC0C7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E3E0C-2ADE-43D7-A05E-9F89AF37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16D38-B67B-4336-ADC8-81E106B6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D9B6E-4A56-49F5-961A-53995D85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36095-95EA-4FA2-999D-711E6419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6411F-FC1F-43D1-89BC-EECE3D77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EF2B6-3315-4C98-9243-44A5350F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30027-8AB6-4007-B300-7CF233E7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E75EC-A82F-4C0D-9033-B0910D0C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DE6F1-7089-482C-91E5-11F53FF0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0A38A-0117-43B8-BA03-16C0EF28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9D634-7248-47D8-9F53-6B48463D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AF4A0-647F-4ED6-909F-F16AC55C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4E3AA-6D77-413B-8D6F-CB503E8C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89CF0-D801-4390-9627-44F904A4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22E0C-63F7-48A6-997D-4C747771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8B535-4D5B-466B-BA74-47326D65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23805-64D2-4EFD-99DC-924EFFA6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4C5B9-7162-4D8D-86FD-CAD04F89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E3C5C2-142C-4FBF-B13B-B84B186D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17907-A344-4AC5-BD40-66E78E86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7DC85F-B53C-45BD-9983-F1B12217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F06D60-B3E0-4534-96F7-AECED15D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3B0CD9-2371-4929-8D21-CB187431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9C67DB-12F5-430F-B656-DB7F70FA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6C3260-CA0F-4D7D-9188-D83FADFA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1B019A-FACC-4800-B7E0-7129BDEB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3A14B2-4FDA-47C9-A241-9EF96EB7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5F955F-3B64-4FC3-9CAF-0DD2CDE9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5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INDICATOR 02 - RSI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6CBC5-5670-4596-98F4-6E946B07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educational paper planning - not trade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1BC80F-9499-438B-87E0-1FB61931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RSI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552E1E-CE2A-4977-90C3-DD1BAF0F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Use RSI to study momentum, exhaustion, and divergence without treating 70/30 as automatic.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9B9B6D-816E-493E-80C5-53F32C36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85950"/>
            <a:ext cx="804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Best beginner use: ask whether momentum agrees with the price move near a real level.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0BEAA3-6A67-4352-8D2D-0AE5853D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DC3D70-1449-4C62-9A4C-3B16E21E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idea planning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DB36A1-BE9A-49A0-962E-4C5696E5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43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5E46D7-0361-4731-BA62-E88708D2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5219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86F0BD-0D46-4518-B183-3D223CAC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7D1B9B-F73C-4F80-A126-8B234BB5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7AFF49-177B-4E44-A94B-FDA58B3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1F0932-17B4-498F-8341-0B762D72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2669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895BEA-62C0-4559-A63C-CDC08D86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1FAEA7-8CAB-4463-B138-9BAAA8D6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1B6CC6-A864-4EF8-9242-31AC959D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8237C-6A89-4FA5-A971-700345A5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859DDD-1CC6-4C96-90F5-00C302D6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22669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FBA1BD-81DF-418D-8E57-DA793AC9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50" y="22669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873A75-30E8-49D4-AE71-B0130780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0FC15D-F316-46E0-8E7D-66E088A0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22669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61CBE5-62D7-4F2D-A4BB-35CF22EC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22669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D94AEC-E7D4-4E7E-8A0D-9B0B2E8E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55" y="3481754"/>
            <a:ext cx="19050" cy="46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659536-1378-481D-BFDF-7A4F81F7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55" y="3615104"/>
            <a:ext cx="95250" cy="210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02C9C3-DF3D-4095-9062-4EE9A0F7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14" y="2989751"/>
            <a:ext cx="19050" cy="787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3844B8-0CE0-43BF-BCD5-E19DFCD2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14" y="3151676"/>
            <a:ext cx="95250" cy="4634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B1F605-1AD0-49B4-8BCD-3DCB5584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273" y="2666267"/>
            <a:ext cx="19050" cy="6092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5B9323-51A0-4658-9DD8-E8432D05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173" y="2856767"/>
            <a:ext cx="95250" cy="2949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6D2EFE-E362-42AB-AD68-6E9EA2F2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32" y="2723417"/>
            <a:ext cx="19050" cy="4216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6EC077-C49D-469C-B580-36FBF35F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432" y="2856767"/>
            <a:ext cx="95250" cy="1263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63DB12D-8A3F-4C2D-A86D-97526C74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791" y="2821232"/>
            <a:ext cx="19050" cy="664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8C158E7-F50A-409D-AEFF-269CF1CC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691" y="2983157"/>
            <a:ext cx="95250" cy="379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6BE3B87-C579-4D12-8ED8-9179925F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9050" cy="8579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9A01C4-01AE-4EBD-8DE6-40A7BA79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62325"/>
            <a:ext cx="95250" cy="5055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238A14-2CFB-4D05-AE0B-48C2B5ED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309" y="3734533"/>
            <a:ext cx="19050" cy="46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FFBC23-E99D-43E2-9DE1-E8CCFAE8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09" y="3867883"/>
            <a:ext cx="95250" cy="210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543E440-EC7F-4FE5-824A-420F2C26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568" y="3663828"/>
            <a:ext cx="19050" cy="5766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BCB703-D622-461A-80CE-6CBEBED7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468" y="3825753"/>
            <a:ext cx="95250" cy="252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53822B-0379-48CC-9B5C-5A0C246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827" y="3129695"/>
            <a:ext cx="19050" cy="8198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6E92D6-73F2-44C1-841D-B3F6941E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727" y="3320195"/>
            <a:ext cx="95250" cy="5055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0E1368A-53F7-4760-B628-0AD899E2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086" y="2554898"/>
            <a:ext cx="19050" cy="927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CE69CEE-4729-4F91-84CD-D0F18096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986" y="2688248"/>
            <a:ext cx="95250" cy="6319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4871B1-FB2D-4DAE-A322-63B8B8D1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345" y="2526323"/>
            <a:ext cx="19050" cy="622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5EB009C-3DF9-4C5C-ADF3-94E1ACA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245" y="2688248"/>
            <a:ext cx="95250" cy="337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D5843B-CD28-4E5C-847D-1FD554EA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605" y="2834787"/>
            <a:ext cx="19050" cy="8579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5D84E16-2B2A-4052-B8CC-F9C9A69D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505" y="3025287"/>
            <a:ext cx="95250" cy="5055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D22A65-2F70-4B1D-B765-6B375952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864" y="3397494"/>
            <a:ext cx="19050" cy="636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4B18A43-7580-4195-9BBE-6ECAD863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764" y="3530844"/>
            <a:ext cx="95250" cy="379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643E3D9-87AB-4080-AE86-B8E5E214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23" y="3579568"/>
            <a:ext cx="19050" cy="492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654E144-D694-43CA-AB6F-8BA1E8FA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023" y="3741493"/>
            <a:ext cx="95250" cy="168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D9A47E3-6B91-4977-9D3C-59B99E94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382" y="2961176"/>
            <a:ext cx="19050" cy="904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85E624-2F7C-414A-9B1E-2F7EC72D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282" y="3151676"/>
            <a:ext cx="95250" cy="589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338A384-5EA5-4B71-9F20-05F60C0B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641" y="2512768"/>
            <a:ext cx="19050" cy="800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64A6298-71AA-40E2-BBBE-D947947A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541" y="2646118"/>
            <a:ext cx="95250" cy="5055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E691ACB-8ADE-4831-836B-7463606F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84193"/>
            <a:ext cx="19050" cy="5806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35B5420-C0B8-41CC-BBFA-5CAA4202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6118"/>
            <a:ext cx="95250" cy="2949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C7D218C-8D6D-4CEC-82FA-AA4FCB27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159" y="2750527"/>
            <a:ext cx="19050" cy="8579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B0BA387-AF42-4A84-A6D3-F68A4F0A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059" y="2941027"/>
            <a:ext cx="95250" cy="5055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FF422AB-B70D-4C1F-B54C-E9B8EE56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418" y="3313235"/>
            <a:ext cx="19050" cy="636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CD7153D-19AC-4FE8-AD2C-47AC215A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318" y="3446585"/>
            <a:ext cx="95250" cy="379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53AD4CC-1F79-443F-AE5E-B1D89AA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677" y="3411049"/>
            <a:ext cx="19050" cy="5766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20383F6-29EE-4323-9629-289056D8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577" y="3572974"/>
            <a:ext cx="95250" cy="252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C23C01D-56F9-4264-8C11-D5AE483E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936" y="2919046"/>
            <a:ext cx="19050" cy="777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BEC35AB-9ECF-476E-96A8-0414648D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836" y="3109546"/>
            <a:ext cx="95250" cy="4634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23BFF51-9BDD-4808-918C-AC7FB7D2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195" y="2639158"/>
            <a:ext cx="19050" cy="632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76C0CD9-B56B-48FC-BA90-B58B8E64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095" y="2772508"/>
            <a:ext cx="95250" cy="337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00AA99E-28C4-4F4C-90B6-9D80A856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521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5F25593-2C76-414F-BFBE-854A12C6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521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C819AF1-773F-4361-9DB0-727BFFF1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96B5609-A889-40E2-8406-D37E1450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4EED0D9-DDDE-40C9-9660-01F7C1F1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9826D10-A8EA-48A3-A9F3-BBC6764D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3598DB-B22B-4EAF-AB28-31A24172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424E349-1CD8-487E-B616-CB2E241B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597C8C-8565-421F-8A49-D5C42ABC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065D877-854E-47E9-9E02-4FB63ABC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7E6714D-9C88-4D6F-A96C-5FF889E6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B92358D-8483-480C-B74B-A6FD1E9A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F36D1F6-4617-4A49-941E-B8750376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889D0B0-BD18-410B-AFFE-59DAE8C6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D38E66A-BE04-4122-A850-22098298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844566C-A164-4FA6-B5BA-0CC7C8EE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4520A8F-ACBA-4CFB-B4ED-4D8454FF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10692C7-2A5A-4B2E-AC50-D5DF8EEE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691E6EA-8538-4F39-9773-B3B9A110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1DF2C77-FED8-41E7-B1FC-99C55C23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E27D8DE-C58B-4721-9DEC-AD4D92A4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8AA0718-032D-4849-946B-06A4EEEA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AD4ADBF-9F91-4A70-B5D0-3FD3B399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0A79594-3590-4317-8552-4D4F6323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8149FDC-27C4-4EB1-BAE7-7D5194E7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851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8ADEEB7-7A4A-43D5-9CB0-0B8219D6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1373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rPr>
              <a:t>96.80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29B6972-0439-4CD6-AA14-01A3E25E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5272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resistance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8DD4FE8-0AB8-476A-9DD6-5E81FE24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3857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0C82165-6966-49E4-910F-5A9A4CF3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5219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A8A206A-146D-4E02-B2F9-C2DF89E0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006FC68-E8F8-4C08-B48F-12315593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E8A9D13-52EE-4FEB-A313-B7A879EB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9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B0754C8-7733-441C-8988-E0F557C4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29150"/>
            <a:ext cx="9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EBBD70E-DF44-4E47-804D-2237EABA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5D77A29-4179-4217-AEC2-2A6C1165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49670CF-7EAA-42BC-A1A3-7A00BD66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F4A4AC6-9DFD-47E3-BFDD-7C6483FF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C407BFB-5D2B-493A-B881-47ADA6FC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4629150"/>
            <a:ext cx="9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B603572-F97A-4082-9A93-B1612E49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50" y="4629150"/>
            <a:ext cx="9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421A40D-CB80-4E8D-9E8A-1CB3A4A1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29150"/>
            <a:ext cx="9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FB52CED-F4D7-4D3E-A0C1-FE6E052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4629150"/>
            <a:ext cx="9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BC007A6-CB29-41AB-A7F3-42F1B494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629150"/>
            <a:ext cx="9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A4784E9-2F15-460C-9B39-EA547570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4326C0F-E8CD-42A7-869F-61710636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BF916AF-DFCB-4402-8B93-F3D8B74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6521A4E-3806-4F73-90C3-25ADA8C2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95900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D6C8D18-5CF2-4A8E-91B4-48DFE593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9103C64-2E85-48B9-A553-4478C1B6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53050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617BA2B-430D-448C-8C8B-FE89F1E6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10200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A9EB173-8536-4CA6-89C6-4675C5FD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00675"/>
            <a:ext cx="15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ADD5354-3D05-4D5A-A86A-856837BE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15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40F2CB0-5A63-4ED4-8C5B-5B28953A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E71CFA1-B9C1-461D-A1F1-96E9A728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768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17E5FC4-D120-48D2-893B-1127756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38750"/>
            <a:ext cx="15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2BF9BFE-62C9-41C3-8D26-7A867D5A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8D2F852-1593-49B8-A821-EB4337BE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816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9106446-BAA6-4811-B786-232AE6C8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43500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7FF8ABD-A387-414B-9BE8-F4F7BD78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14925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9B90C82-A0E6-4CE6-9DFE-91A235C5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14925"/>
            <a:ext cx="152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B233BC8-3F68-48DF-9518-0D15EBA5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625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234CAEA-935B-4FC1-BEA7-6990451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91125"/>
            <a:ext cx="15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3EB4CA7-56A7-4A7F-9F94-EDD3FF8E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48275"/>
            <a:ext cx="15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52CEBC5-389D-45E0-92F9-63E5AC79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14950"/>
            <a:ext cx="152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0E164F8-62F8-43FA-B87A-143B88D5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2447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4ED0106-6E62-472A-ABBF-09C33F9C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76850"/>
            <a:ext cx="152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DB7240F-DAEB-439B-8ABE-615444F9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387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385792B-EAF4-46C7-8F2C-131B0791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387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CFEC90C-FF57-4206-BCD8-C6DC5549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19700"/>
            <a:ext cx="152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3FEE23C-D3F6-4FC6-A801-0CEDE587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91125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77465B1-0BB6-4399-885E-042179C8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530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B40C6AF-6548-4CBE-8113-2D8BFC3E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244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2FC4229-2382-41BB-89D3-EF534750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2C9EFD7-5588-4BD7-ACA9-F361BAF6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054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D3CF6C8-DC0D-4D64-87AC-8B8F5177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33975"/>
            <a:ext cx="152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4501694-7768-4F22-B537-FC1EE593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81600"/>
            <a:ext cx="152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509C670-E4BE-4BB3-8B80-56E6983C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0060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EF4444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EF4444"/>
                </a:solidFill>
                <a:latin typeface="Aptos Mono"/>
                <a:ea typeface="Aptos Mono"/>
                <a:cs typeface="Aptos Mono"/>
              </a:rPr>
              <a:t>70 overbought area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2FC4095-EFA8-4D23-BA6B-9E317A65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292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30 oversold area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1A6B674-3788-4219-AF14-B09FC41C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335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BE8C8C2-1AA4-4C6E-B670-C96520D9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1769578-A19A-45B4-BA33-B4E200C7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E883416-F28E-46CC-B8B0-A0716E85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4D3CC19-69FC-448E-AA7A-D19D5E9B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050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D65E084-655A-455A-8F54-153E35E9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507A5CC-C13C-4648-ABC6-A0D70C92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What it measures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47CAA37-1305-4893-82A1-EC45B023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Recent momentum: how strong gains are compared with losses.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28DBA4D-1C44-48CF-8F3E-49528181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335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41D2335-2978-4B86-AE45-FAC29426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FA6BC92-72E6-48D7-84CF-625DF4AB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052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7425CA1-FB13-46FF-9FD9-D1537A42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87995D5-2FD9-4D2D-9C92-4A3D6625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3337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BBD1CC0-060B-450F-A41F-E46A8C1C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79D5AE2-0322-4217-9EE3-89D1492F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Good question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C2CF9CF-8829-4F78-BAD2-E8B92E4E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Is price making a new high while RSI is weaker? That can warn momentum is fading.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44BACBB-E527-43D2-B8C5-DAA8129B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335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725FEF3-90F1-43DB-AF7A-24084293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C8E242D-92CC-470D-B5A3-B1D3AFAF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2922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A240DA9-C872-42C6-B2F2-D87E4276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1A94FA5-7F22-4F2E-875C-DE76F42B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3624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27DF50C-5327-475D-8321-7AD819FE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D73C8DE-D8EE-4DBA-8928-11A879BC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05325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Common trap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58DBADE-9994-4BBC-85A4-6DDE834D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RSI can stay high in strong uptrends and low in strong downtrends. It is context, not a reversal button.</a:t>
            </a:r>
          </a:p>
        </p:txBody>
      </p:sp>
    </p:spTree>
    <p:extLst>
      <p:ext uri="{BB962C8B-B14F-4D97-AF65-F5344CB8AC3E}">
        <p14:creationId xmlns:p14="http://schemas.microsoft.com/office/powerpoint/2010/main" val="9256837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5478E-FC1E-4B7F-A015-9AF0C347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B9549-26BE-4064-A776-7C75DE08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DA9BB-67C7-4517-8293-8F18B90F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3BB91-5F35-4857-AF0E-53C1E45C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5D149-560F-4DF0-8E39-C38CAB52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E149E-5F83-48EE-8B1C-D353D1E6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F3787-A700-438A-942B-65FBFF84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15D6D-76F3-4099-9398-1D4790D2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6E3E2-0E1B-42A4-9F0A-6759BB83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E6120-1A97-44BA-89CD-91F438CE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1C303-9B9D-4E4C-A3B8-E341E022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BEFF0-1A6E-4ED1-90D8-47C2240F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9D377-BA64-4403-A544-7702B1A9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FE0A3-F513-40D9-9FCD-F060E1F7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A4D10-EC2E-412F-A319-6DFE16AE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5719E-D586-42C6-BA8D-CBC055EE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9BA29-E798-4E21-B9CF-90340EBC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458AF-A6B9-45A3-85B5-4614C272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E5EC2-B1E3-4BE6-BBC2-768A7EB5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0442A-C005-46F9-BCDA-69ADFC28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068B8A-3CA8-4554-B7DE-31391240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DEB74-0B6E-4FB8-9AF2-A92CC5FE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71E92-D2A0-406B-92A0-E0B1C2B7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BE6C1-F8EB-4A7A-A702-9D1753FB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46E9C-66CE-412A-86EA-504995C2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40BFA-E430-4F02-B0A6-7D1593AF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0CD2FA-C97E-40F8-82B1-1D4A74CD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E5604-FDAC-48CB-B4C9-6D3912CA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657357-9FB1-4820-9F31-8406BC8C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9EC599-810D-49BA-8FA1-0C6B65B7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8590EF-31EE-4F0E-9CA5-2C1D440E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E8767E-D5E4-40EF-8C54-9450BF04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5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INDICATORS 03-04 - VOLUME + VWAP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330EE0-AF08-4220-A734-C3A16EBB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educational paper planning - not trade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48436-73B1-4EF0-B8E8-F0096C46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VOLUME + VWAP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E9F229-353E-44D1-A88E-C6BDC465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Use volume to check participation and VWAP to understand intraday fair-value pressure.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B4EFD5-F87D-412B-8B01-14D478C1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85950"/>
            <a:ext cx="804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These are practical because they help answer whether a move has support behind it.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B0EF89-2E62-4BC0-AE92-E5FEE186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898CF3-DA87-4BEF-8A51-459C1875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idea planning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1E7422-A9B5-4A61-9758-BFFD6C84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43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F266B1-6A3B-4E31-AF83-7E5185A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334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415C9E-C0E3-4AA0-8CD4-A0D7B438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24A067-B627-4EDA-9FB4-A25627C6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FA1D75-FAF2-4190-B2F8-C3B87538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E192BB-DADF-4BA6-A979-06F83798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266950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1E0864-DEC8-4B3A-B4BA-0E64981D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703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4898EB-5D5D-44B5-9F28-39707210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711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88D0D6-1459-46A6-A491-943DCA9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719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CF6D01-B85D-47A3-9E4E-97BEBFA4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727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26368B-66C1-4E84-9219-802A3AF3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800" y="2266950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C42D09-0C8B-4AFA-8BEE-BEBF527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00" y="2266950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F10088-39C5-42C6-A91A-6DD8F1FD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63563A-EF4F-439A-A0A3-90CED2F0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266950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43A27D-C761-490C-8496-5788FD05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800" y="2266950"/>
            <a:ext cx="952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42302C-3BC8-4C5A-84E9-69EB6463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02" y="4103077"/>
            <a:ext cx="19050" cy="564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CE4DB7-5381-4AD5-9699-F4D46F21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02" y="4236427"/>
            <a:ext cx="95250" cy="3077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39A2A6-F566-4FC3-9368-6110C5F8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957" y="3397494"/>
            <a:ext cx="19050" cy="1000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BB82F3-9AF8-4001-96B1-180C2330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57" y="3559419"/>
            <a:ext cx="95250" cy="677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0F5793-3117-4A39-B13F-4A97ABE7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411" y="2938096"/>
            <a:ext cx="19050" cy="745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FC96DC-07CC-4AD8-8EB7-49B0F638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311" y="3128596"/>
            <a:ext cx="95250" cy="4308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F2CB06-518E-450C-B7E6-4E4747BF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866" y="2995246"/>
            <a:ext cx="19050" cy="479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3D47D8-DBDC-44A3-8489-CED52606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66" y="3128596"/>
            <a:ext cx="95250" cy="18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535C8F-1E74-4C71-9E49-B1D968D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320" y="3151310"/>
            <a:ext cx="19050" cy="8396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80EFCC-84A3-4D1B-B58C-81D181BF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220" y="3313235"/>
            <a:ext cx="95250" cy="553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E7D3F2-2A66-4636-9308-B319BD55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676650"/>
            <a:ext cx="19050" cy="10909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2B03AB-0BBA-4FE9-A0AD-8AC15767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67150"/>
            <a:ext cx="95250" cy="7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DEFB5A5-CF79-4DD5-ADDF-A0392220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230" y="4472354"/>
            <a:ext cx="19050" cy="564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F41E7E-0774-46AE-921D-1CC2BC42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130" y="4605704"/>
            <a:ext cx="95250" cy="3077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BCCC6E-E15E-4593-AF26-B2CD8839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684" y="4382233"/>
            <a:ext cx="19050" cy="693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969054-E7BA-4DEA-B014-F864C190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84" y="4544158"/>
            <a:ext cx="95250" cy="3692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2B7AA92-E8E0-414E-BB19-ED148BF2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139" y="3615104"/>
            <a:ext cx="19050" cy="1052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268C5F-5235-4C59-965A-DDE495C2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039" y="3805604"/>
            <a:ext cx="95250" cy="7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02DC9C-17DD-46EA-96DB-9A2FF039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593" y="2749062"/>
            <a:ext cx="19050" cy="1218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F9DEAB-B062-4B07-B8B0-D9BF8DB9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493" y="2882412"/>
            <a:ext cx="95250" cy="92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E44DE7E-72E2-4CD2-9790-C3474AE5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048" y="2720487"/>
            <a:ext cx="19050" cy="77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6CB205B-4E6B-46BD-B262-6037C9B3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948" y="2882412"/>
            <a:ext cx="95250" cy="492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342C75-87A4-4995-B756-E4359A78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502" y="3184281"/>
            <a:ext cx="19050" cy="10909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F2F435D-12BB-41E3-A8AE-6809640B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402" y="3374781"/>
            <a:ext cx="95250" cy="7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B60A3A-35DD-4936-836A-4875AE4B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957" y="3979985"/>
            <a:ext cx="19050" cy="811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414D4DD-39BB-4CE6-9894-5925D22B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857" y="4113335"/>
            <a:ext cx="95250" cy="553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6B30491-D54F-41F5-A0CF-DB45D1D0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411" y="4259140"/>
            <a:ext cx="19050" cy="570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D5028DC-6024-4C89-80BA-23B1FB4F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311" y="4421065"/>
            <a:ext cx="95250" cy="2461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3D8AA41-0562-4C86-9C37-268F92B8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866" y="3368919"/>
            <a:ext cx="19050" cy="11759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28AF9CC-91C6-4179-A608-C340C2FD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766" y="3559419"/>
            <a:ext cx="95250" cy="861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5C11230-129B-4D78-A882-FC1C61D7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320" y="2687515"/>
            <a:ext cx="19050" cy="103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1FB9827-73C5-4AD1-9FCC-C4EFBA6D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220" y="2820865"/>
            <a:ext cx="95250" cy="7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ACE3EF-6710-456B-9CD8-53D3A529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58940"/>
            <a:ext cx="19050" cy="716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35802DB-D75C-4D84-AE30-EC305D34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20865"/>
            <a:ext cx="95250" cy="4308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A3826E9-0146-4548-AC9C-2CBBB8D5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230" y="3061188"/>
            <a:ext cx="19050" cy="10909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0B7AFAA-77CB-4490-981C-3120135C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130" y="3251688"/>
            <a:ext cx="95250" cy="7385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7EA6506-C832-4E01-B6E4-2E1D35D1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684" y="3856892"/>
            <a:ext cx="19050" cy="811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458CE1C-7340-4669-828D-8A5E3908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584" y="3990242"/>
            <a:ext cx="95250" cy="553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70BBD96-FA91-4DF9-9488-CEDD332D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39" y="4012956"/>
            <a:ext cx="19050" cy="693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ED18E7E-6A90-4240-9731-B16BE156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039" y="4174881"/>
            <a:ext cx="95250" cy="3692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C8980F5-CDF4-40D5-8610-C9A38766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593" y="3307373"/>
            <a:ext cx="19050" cy="991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97D395-AC66-48E8-A4F1-9A08B74D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493" y="3497873"/>
            <a:ext cx="95250" cy="677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B3CDDFA-7473-49C5-A8D5-793125F2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048" y="2872154"/>
            <a:ext cx="19050" cy="7876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48721CC-3D4F-4ACB-8DD1-5F552D84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948" y="3005504"/>
            <a:ext cx="95250" cy="492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579D9B0-F85B-49EE-AB33-0E8D8C5B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723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1371C03-ACF4-4CB9-81BF-53994D1B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707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F826E92-BD22-4835-8496-09BC0247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91FB747-720A-4E87-8F97-CE03E337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AC181DF-4DB8-4534-B95D-636617CE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3C513C0-00FB-471E-ACA1-BE2B1D7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980ABE0-1DCA-47C9-ADC6-C4819A36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3C70CA6-A589-4386-A889-DF61CE32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8ED1FC0-9562-4BBB-9560-57F8B72A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7710AC8-FABA-4919-8699-3B2295EC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8DF7835-BC16-4BD2-BBA6-E1493725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B28AAD5-2342-4B53-AAAB-C229053E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0669482-02E2-4494-BCFA-2FCD9B5F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212F2AB-F349-46AA-AD6D-4A77712D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7C7FABD-599C-4ED1-B953-15B5442C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F284117-917E-4655-8EA6-4F55483F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BD97EEE-1F74-492E-A4DA-99F9B76B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C8155F0-3D46-45EC-BAB1-5360F27E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55F212B-37D9-4BAC-BE9F-5B6FA54A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0B212B7-0A25-434A-B827-29B315BF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6A03CAB-CDF4-40F6-BD57-A21B0CCB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83ABA97-F5BC-478C-A7EA-FBBA3381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CFD395C-04F6-4750-8AEC-AEF4EF2A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BF58637-75F4-46CD-B96C-E1CF19B9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5BDC0BD-CF37-4354-B5CF-F13D4530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9ED36C7-35E1-447C-ACFC-867E7C2D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0314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DDC3DC6-4FBE-4E64-8B57-CB8E3FEF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98367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rPr>
              <a:t>96.80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0B638DD-AC05-4AA8-AB6A-F80BE259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5562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resistance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1D914FC-B41C-4EDF-AB6A-44DBC642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4533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F9B724A-ED8F-40A1-B657-FE03FBBB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F2120D8-2A22-4A6F-8FAC-F16D4747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67" y="522922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792E7BE-14EA-4192-B02F-2077AE6E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183" y="518160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6661994-6C24-4940-A320-F4AFA0F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700" y="5133975"/>
            <a:ext cx="1047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DE88384-8C40-40C1-B054-1E7A233B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217" y="5086350"/>
            <a:ext cx="104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03825B9-942B-4654-BA66-98CE9E0C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733" y="527685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22B6E92-F74E-4D8E-9B4D-4F9E053B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522922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8D3598B-FEA9-4D66-A93F-063210A7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767" y="518160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F7B843C-8CF5-4D3A-AAF2-12CCFCBD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283" y="5133975"/>
            <a:ext cx="1047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271BB9D-40C7-4FFE-A311-456CDF8A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86350"/>
            <a:ext cx="104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B2E5936-B369-49E7-9775-F5BEB837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317" y="527685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BED00AD-19C2-4B37-801A-FC97FAD0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833" y="522922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51562C0-6458-465E-A321-DB2B0E44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518160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6CAC4A0-BCD4-4CED-86E8-1DD9E434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867" y="5133975"/>
            <a:ext cx="1047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C727592-568C-438C-ADD2-5270A4D8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383" y="5086350"/>
            <a:ext cx="104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06F426C-579A-46F5-9C98-B663ADED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527685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A8BD4E7-91DE-4C91-85FC-BA7C03E4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417" y="522922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4114AD0-2FA9-45AF-90BB-E006C373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933" y="518160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D8495FB-52B7-4D91-AE96-14AD1A2C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361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5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VOL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C4ED960-AB57-41A0-8C7D-B4F75497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531C256-C204-42B7-A28B-1727FC4F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149CC19-9F1D-41D2-815F-088F0241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ABF445E-89EC-48DC-BA91-D7D4F0E8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005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6BF6F02-F39E-40E0-9CAA-4AF5356F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10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2B41955-3607-4A04-9427-D244B54C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0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09DB8C0-9B54-4747-86FC-61A1E776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10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E3FD2A2-F9AD-421E-86A2-5CBED1E4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10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7C21102-A040-4790-9A9B-FDF5CF04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195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BF6FFB9-1F4B-4CC6-8FBC-C4BA1A51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291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3042FA6-F6D8-4573-A75E-C02CD213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291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7505D68-7118-4998-BC1C-650836FB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291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FAD2471-A3FE-4CAF-801E-ECB6077F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386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D18AEBE-ED55-46AC-9492-A944B1B6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481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CC315FA-738A-45D0-B362-853FD02C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481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8E2AB12-45E6-430B-A3CB-A5AF39B8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386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0A28C0E-B628-4FB0-907C-2BD48043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291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69E3076-A365-4BA1-932B-BF7A8BDD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291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F5B7BB0-145F-4E5F-926D-C049037A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386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DA30D71-87F9-41AB-9710-BA87A4F5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481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16B446C-5FAB-4870-B62A-D8E46FBF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576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23AAAAD-A9B3-41A1-BA7F-C8828DB5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672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20A3A82-D41B-48B7-B078-F7B4D0F1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672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1AB6009-C772-4086-8479-4FC311AE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767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6AA08AE-58B9-4D98-BB89-12E33EED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862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1338D73-F412-4DD7-85B2-207368C0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95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81A4EC0-7338-4464-8D45-AB92AF96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053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4E7BF6B-E4C2-4F87-ACF8-07EB680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VWAP / fair value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042F0C5-F242-4C09-8BC2-D7F9EE4E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5E160A6-EF67-4087-9C2A-9BB07D6F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A70DA51-3774-422B-A68B-756B2ED6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337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E0D9F4B-C4D8-4A91-95A6-0ABE176B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D24FEDD-465C-498A-9D8C-EA780DBC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669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5953071-BBBA-4F61-83BF-C9ADC891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4E33400-4758-4280-9654-15347AE5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982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Volume asks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4FB4EE8-AE8F-4F34-8B30-A297E0F1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Did more participation show up on the break, retest, or rejection?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1F02A2B-F738-40E2-8437-DE5FA800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F9F19E3-2C0F-43CC-8C35-ABF0A2FC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4222978-2F4C-453F-8EBE-53A497B8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624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8282B38-9649-4C78-B132-0F91DD13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025C61C-7DF7-4135-9622-B0FFD74C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2956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9F02A99-9907-46F2-8DDA-D6EBF959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6866FC6-FE5C-45DD-85E5-FD48BB70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3852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VWAP asks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2D84CD7-016C-454B-A71C-31535542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528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Is price reclaiming fair value, rejecting it, or stretched far away from it?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A7641BB-ADD5-4DF6-977A-402B9767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333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020E37B-A1AE-4AB0-A97D-2D9D6549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17C0941-59F3-4DC5-A60C-4C97ED23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7FFCE66-C151-4026-A355-2ABDDF2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D9CB8C1-CE7F-4726-82F5-4B267C36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21005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D6DD23B5-93C0-459B-87BA-E5A259A1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6E9571E-B95A-41AF-BCAB-418209ED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5292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Beginner trap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8C58D57D-366D-4F8A-88A7-AE720428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67250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Low volume breakouts and late chases above VWAP can look clean in hindsight but be low quality in real time.</a:t>
            </a:r>
          </a:p>
        </p:txBody>
      </p:sp>
    </p:spTree>
    <p:extLst>
      <p:ext uri="{BB962C8B-B14F-4D97-AF65-F5344CB8AC3E}">
        <p14:creationId xmlns:p14="http://schemas.microsoft.com/office/powerpoint/2010/main" val="14537467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FD68B5-6F7E-41DA-913A-82B2BECD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85F6B-3B60-4E1D-A64E-56A352D4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BF6FE-3214-4572-89C9-374312D2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B453E-8608-4B38-885E-D6226716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76AEB-802D-4778-B222-1D8E2CD7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F7C5F-97A2-4F95-A4A3-7254C368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83FC5-2D14-493A-AD16-242C3ECC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B62E8-FE63-4087-B7ED-AD75B390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A9BD2-EE7F-428E-99AC-D81367C6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9D5C1-98ED-4601-B328-97ABBE17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9EE27-CA05-4C0A-822B-CC99253D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1B57E-786A-47ED-8FB8-D8C7080A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C271E-4C02-4D6C-AF95-EC77F417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49F6B-8DBB-4C6F-BD03-D1D5C7E1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7F2E5-CC60-41C0-AB1A-51D97F92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02F35-862F-421B-B791-69986A89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9586D-C09E-4DF4-B4B1-E11DFBE9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FA2B5-A972-4BC4-88B5-1487CE76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70A51-0FEB-42DB-A069-386E77B6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508F9-0A6C-45E1-9925-01F89C0F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3E26D-28D1-4892-B8E8-D400E641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44CA7-9D5A-4A49-87C2-B16D03E1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62AD8-8D52-47CC-84AA-BDC24F7E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AEAC5-9AB3-4F73-92C5-28ABAE0B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1877E-404B-4E6B-A1EE-B5FAF491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E8A20-F059-402A-9528-B5C51B77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803E5B-1503-497D-A475-09421E42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CF9BAD-FB7C-487E-A331-599336E3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07D903-87DB-4924-93F3-5CDC7CBF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E46CFB-1FA7-4B40-91FC-8EE37719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5F3D2D-704A-42F4-8027-6FAFA567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908427-D436-4A16-8162-1F5ED4CE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5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INDICATORS 05-06 - MACD + ATR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F9EC45-8BBB-4EE9-BBC9-971A1F54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educational paper planning - not trade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59837F-995E-4FC9-BADF-5C290797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MACD + ATR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000A97-6C8F-47A0-A0C5-08855DD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Use MACD for momentum shifts and ATR for volatility-aware plan sizing.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A35CBD-60EE-4C32-9F97-EBB199C6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85950"/>
            <a:ext cx="804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These indicators are stronger as planning tools than entry permission tools.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F998C3-E81B-4794-9764-5640FD7B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6997E6-1624-48EF-B21B-6275592E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idea planning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6431CD-0890-415E-B91F-3F18FF11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43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F59069-A41C-44C2-8D3D-4DF0E51D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476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8C3500-6139-4D5F-ABE3-8F903888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89462B-2BD0-4071-8085-CA40EC68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A6AD5F-8494-45AE-95BF-E196D144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5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734A7F-39B2-4979-B221-3067C439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81250"/>
            <a:ext cx="95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2E2AF5-4035-415F-9877-33167AED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81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DE80C4-ABA3-46B9-AFBD-78DED05C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413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MACD: momentum shift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5A7CCF-23C7-4AC9-9F95-7812D2CE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4133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Measures the relationship between fast and slow moving averages. Beginner use: watch whether momentum is expanding or fading near a level. Trap: late crossovers after price already moved.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9C75EC-4D32-46F0-A087-EF5BB74E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3CA2B4-6693-4B50-9D11-DD5D5C33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9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DCE46B-5897-416A-9235-AEAC9B95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528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A56CE6-B015-4D4A-ACF0-22AF3743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099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AA9A37-7C61-4050-B207-FE6962B8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6710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A64CE4-BDF6-470B-AEC8-B7FC2DF9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524250"/>
            <a:ext cx="9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B3EE26-8C76-44D4-9145-363C0CD6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81400"/>
            <a:ext cx="9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3F59EF-2FE7-479E-AAD1-D4F7C253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38550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1BB14E-CFFD-4B55-878F-D59C608A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9570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11741D-A6AC-460F-AA21-D64C1633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2905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B2D638E-633E-404F-91ED-C28668BF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290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4CF372-4CD2-46FF-8A86-D944B288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29050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4D00A2-1C15-43C3-B112-095BE952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29050"/>
            <a:ext cx="9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8A99AD-FCFA-4972-ACF3-C661E1C1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29050"/>
            <a:ext cx="9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C859EA-BF2E-495D-B9B9-902F3F8D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A01E2A-122F-41EC-9685-FBB51E9A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290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25E900-9C39-4E1C-887B-0AF25A16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2905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8A12783-CFB3-4D18-B921-58690886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9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3357B4-7626-4228-A3E8-A298B3E6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3255C6-FA8C-441B-88D3-8C8B28B0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4476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438EDF1-D13A-46A9-9BEB-7655258F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1DF828-6DF9-4011-B436-BAC24960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909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4B6C76-AE39-4310-91C5-63148B00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0AB60FB-1056-4D36-85DF-30436FDD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38125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6A88598-97D7-43BB-A1F3-4CAF0D64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F60E734-0B62-4356-B69D-5E0E1984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413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ATR: volatility and room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C5D2B92-76B3-4540-8D40-922C23E0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4133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Measures average candle range. Beginner use: avoid placing the wrong-if line so tight that normal volatility knocks it out. Trap: ATR does not predict direction.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D48B2FA-C14E-4FC2-A420-7E688DAD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ATR RANGE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34463DD-BFF6-40A9-B023-7AC521D3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1790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1E15EC-4676-404A-AB03-B8822A60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1110234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647CD5E-DDB7-43D4-8FC0-1BBC2ED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984" y="45148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2424F48-B32E-4375-B63C-83D1DCC8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191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01D3BCB-6545-4ADE-B80F-452EDF6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D9AE61D-03C8-4085-B57A-E031CAFF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1027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695586B-DBCF-4ECB-928A-58E61FAF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27A9A17-BE78-4BEA-AC40-01406671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2197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BCF8055-D14D-4A27-A1E0-7EEE3788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62575"/>
            <a:ext cx="784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Product idea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1FF5F39-4E07-4E9B-AEE3-FC767555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76900"/>
            <a:ext cx="784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Indicator cards should show what it measures, when it helps, when it fails, and one beginner question tied to the current chart.</a:t>
            </a:r>
          </a:p>
        </p:txBody>
      </p:sp>
    </p:spTree>
    <p:extLst>
      <p:ext uri="{BB962C8B-B14F-4D97-AF65-F5344CB8AC3E}">
        <p14:creationId xmlns:p14="http://schemas.microsoft.com/office/powerpoint/2010/main" val="5984884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F069F-1A5C-4604-A476-19FB9BDC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D4BA0-A978-4414-B763-CE905E2A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B1AF8-2FC1-495F-A5A2-7C5579C9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253EA-D2C9-43AE-AA0B-AA62FFCD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7DBFE-4A9F-4B70-A95D-EFF1AF09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7EF63-4559-4618-8DE4-FB50C85E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BDD9D-1CF8-49AD-87E4-AFC3710F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69812-CB7F-4C4D-B8B6-0750CB0F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9B450-37B3-4BAA-BBC5-6BFBBC5F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E654F-75E6-4C16-A8BE-7A1D9F30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0D88F-88D7-44A4-A18F-B22F031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26045-39B4-45D9-9C49-98C719AE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AF218-DC0C-42E6-8EBD-D8D2AD34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D3430-CA91-4C28-9A16-CEA44642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86173-EE68-4376-96A5-64170E58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8062C-9E71-40C9-991B-1300FC3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7A410-A9EE-476B-9D24-75FDA5FB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1A41E-713F-46A1-B7B2-BCDD486D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D532A-4F15-484C-B1B0-6FC7619B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26C81-E168-42B7-AF23-C6207404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19FBE-C87B-4932-87F9-9C455866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2BE0A-44BA-4009-8384-3A5C8E9E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8C6EF-194D-41C8-8545-257334A2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950C8-9E08-4925-AD12-B1347CEF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B5C80-AEA8-4A05-8B35-63B2D40D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0ED0F2-E4BE-4AAB-9194-6A0ACE31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56EFC7-A9FE-4D85-8C34-8A525F6C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BB3E22-2BF0-46B1-B27A-4F9E3E8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E37C21-9C93-490D-A250-2E943C8B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0F9863-1644-4AA9-965F-8AAA9839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833A5F-A253-4B75-B190-46829DB7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8FF5E2-CBAD-4133-ADF3-53E23184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5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HISTORICAL EXAMPLES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A545DC-1B3A-4496-9610-61AF5F3E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educational paper planning - not trade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52B92F-C16F-476B-A89E-96E4D69F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BOTTOM EXAMPLE STRIP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1D5E03-45A1-4449-9A3D-70CB0EB5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Historical examples should teach pattern recognition by showing before, during, and after states.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A38A79-7860-4CC6-BD09-BCE8E081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85950"/>
            <a:ext cx="804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Each example should include the indicator state so the user can compare context, not memorize outcomes.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400EC0-435B-4263-A3DB-595D8406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5225E8-96D7-49EC-8C58-F4BB462A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idea planning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A2317C-8B84-4AB9-8A9E-25A3BDC4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43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99A642-6AC6-4B58-A792-46330295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32766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2D77B2-2575-4590-8BB8-EDBA7E79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AD4282-1235-4D61-91AB-C0EE206C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CEF87D-7AE0-4075-A932-F3362FF9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95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449472-6213-489E-9D6A-862F717A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400300"/>
            <a:ext cx="95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70000B-3321-4214-91CF-241BCE5E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38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6667ED-5E32-4CAA-B5EB-426C14C5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Breakout retest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5C9F2E-76E2-4C0F-B0B9-9628BBB7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819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0B733F-C1DE-413E-B1B2-B5C77DDD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DBBECE-0BA7-46B1-A8D1-49FD7538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1AD257-E299-4805-8938-152D6DA8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3A508A-371A-4CD3-8E25-D8967A80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A60B6B-B89F-41F3-A3E8-95CE13AF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898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E3A71D-9C30-4E91-A981-17E353D4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901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4CBCF3-E3A2-4768-A4AC-18952A7E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4904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7E990C-F0B3-4DA1-98DB-EFBE04C7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907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9291E2-F60B-48F7-BFFF-7EADD84E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15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C78D1D-45B5-457E-A1A0-E04C75C8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5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83DAAA-D0A3-4CFC-B0B3-06F4B279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6811085-12B8-4F28-B439-3B34075B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5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4730B0-D4B5-448E-9AE1-2FB07D2A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75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4DA82A-CE94-4BA7-AC1F-81607F1A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02" y="3634154"/>
            <a:ext cx="19050" cy="372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CBE37B-35F3-4396-B4AA-D399F036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02" y="3767504"/>
            <a:ext cx="95250" cy="1153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9C4622C-1E7E-413E-885C-EC7DC2B4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957" y="3351701"/>
            <a:ext cx="19050" cy="577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580508-634F-45C8-995B-3C9EE176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57" y="3513626"/>
            <a:ext cx="95250" cy="253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70A640C-4332-4833-B22A-7EC1F8C5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111" y="3161567"/>
            <a:ext cx="19050" cy="475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0E46C0D-8E02-4BAC-AB55-E0C6FB28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11" y="3352067"/>
            <a:ext cx="95250" cy="1615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A28EEDE-D733-4855-9786-3184D32B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266" y="3218717"/>
            <a:ext cx="19050" cy="364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2E33448-98B3-4057-B329-9EFEDF40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166" y="3352067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96AA36-6165-4F43-A04F-03690FC1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420" y="3259382"/>
            <a:ext cx="19050" cy="493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85CA4A8-4520-4969-9BD7-20C22E50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320" y="3421307"/>
            <a:ext cx="95250" cy="2077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DD2F91F-F730-44FE-8A59-8474725B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38525"/>
            <a:ext cx="19050" cy="629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A8E3FDB-1A95-4810-B3BC-64A7DDA1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29025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9EAB6B8-37E9-4AEC-BB79-FAD44334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730" y="3772633"/>
            <a:ext cx="19050" cy="372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8DCE55-FC0E-4484-AF22-A98FC95A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630" y="3905983"/>
            <a:ext cx="95250" cy="1153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0A7790-72A6-4A39-ABE6-76B6721A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884" y="3720978"/>
            <a:ext cx="19050" cy="462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F107BA-FE2C-43CA-A97F-AE5666C4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784" y="3882903"/>
            <a:ext cx="95250" cy="138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3439148-982C-44F2-BCD2-3FE0F120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039" y="3415445"/>
            <a:ext cx="19050" cy="5912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4C3E28E-E077-4598-A5A3-5BA71CED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939" y="3605945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4D0BEF1-2ED1-4261-948E-E0A169F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193" y="3126398"/>
            <a:ext cx="19050" cy="641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D6F7F7B-9F68-4019-A5CD-A2B77630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093" y="3259748"/>
            <a:ext cx="95250" cy="3461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9D3ECE1-0C12-4F99-A430-7C52288B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348" y="3097823"/>
            <a:ext cx="19050" cy="470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772F527-BDAA-45CA-984E-78F74A4F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248" y="3259748"/>
            <a:ext cx="95250" cy="18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1BC6265-492C-41B1-961F-06C788AF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502" y="3253887"/>
            <a:ext cx="19050" cy="629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1619F3E-F7EA-4B6D-B1CB-D03E83B6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402" y="3444387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AFCC27F-2336-4BCE-9335-C98BE528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657" y="3587994"/>
            <a:ext cx="19050" cy="464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D613F74-8516-4353-8CDA-CCA741B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557" y="3721344"/>
            <a:ext cx="95250" cy="2077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6BC38FF-EC68-493F-8F67-B9518225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811" y="3674818"/>
            <a:ext cx="19050" cy="4161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32933F2-4A44-4F49-BF59-67312AE9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711" y="383674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101CDFE-ABD1-47F3-9305-EF44FE37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966" y="3323126"/>
            <a:ext cx="19050" cy="63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C612FAA-8F74-4E6B-9BBD-2B86A59E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866" y="3513626"/>
            <a:ext cx="95250" cy="3231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1905819-8EDE-42FC-B978-7915963E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120" y="3103318"/>
            <a:ext cx="19050" cy="5722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1396D0F-7259-4CBC-A81B-571C8957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020" y="3236668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CD43937-D243-4265-9B1C-5DCBBA64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74743"/>
            <a:ext cx="19050" cy="4473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931F4B8-A7FC-481A-8ECF-5B809D8D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36668"/>
            <a:ext cx="95250" cy="1615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D7F584B-EB32-4DC0-87E5-0C283603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430" y="3207727"/>
            <a:ext cx="19050" cy="629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B5EBB4C-B6B6-4065-B41A-85AD6B39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330" y="3398227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E23B586-EE27-4BA9-83B6-C4649346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584" y="3541835"/>
            <a:ext cx="19050" cy="464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26024F8-7802-43EC-986B-1B10AF48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484" y="3675185"/>
            <a:ext cx="95250" cy="2077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CAD0603-77B6-4E15-BEEF-861A293E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39" y="3582499"/>
            <a:ext cx="19050" cy="462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9B7A7E8-990D-4386-941D-A4B773DF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39" y="3744424"/>
            <a:ext cx="95250" cy="138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10C0F9E-80E7-40E3-A176-CB2D2A6D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893" y="3300046"/>
            <a:ext cx="19050" cy="5682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08473A6-8BCF-4CD4-8E3A-E2D5AB14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793" y="3490546"/>
            <a:ext cx="95250" cy="253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B215F0D-4968-4EBE-ADE5-733105FE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48" y="3172558"/>
            <a:ext cx="19050" cy="479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2E400CD-7939-4201-ACF8-3039A112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948" y="3305908"/>
            <a:ext cx="95250" cy="18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8B2B254-5A22-43A7-B269-9E67A652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9055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F6DA3C4-8910-4345-9281-5BA420A0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8995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B017D5B-61D1-4C40-9F78-2FBD8E6F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C7C54CB-56D4-4477-A083-08D9566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75885F1-B627-41DF-9907-5D2A50F9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E724123-5BCB-4C3F-A97A-6A232307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B914044-98B7-4066-81C0-6E4BC52B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61C50F5-2EC0-4601-8E54-F8BE9997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72E7EA5-BEE9-4129-867E-145728E4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BCF3069-40D2-4F48-B775-0F5370C4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701F1E1-E8ED-4B3A-B807-32AC0022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3B4A2B8-9AE2-4799-AA95-23042619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BB0EA75-3B67-44BC-82A0-13D57C6C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C132F36-E6E7-4D9B-A538-6801C353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C599073-710A-47BF-B5C7-560E698B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478A280-C5BF-48AE-8870-82F5C121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00247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rPr>
              <a:t>98.40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F3E355A-F1E9-4848-A7E9-E3848BC9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754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resistance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612075D-04B3-46AB-B8C0-4E8070BC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0715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782ADA4-740A-46C1-9309-F2BE3010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MA rising, volume expands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1036EDC-6A94-49EB-A6B6-1C905CD2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Did support turn into acceptance?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E0CC653-CBDD-444C-BC95-3C0935D3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Learner action: compare the chart level, price reaction, and indicator clue before reading the outcome.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987DF25-D345-45C3-AEE5-8E3E11E1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32766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3096A60-490F-4922-86AC-83671C65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66E28D1-138C-42A7-9B02-161EC1F2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19725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33FFE6-5C31-4268-B6CB-08AD0CFD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95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0ADED5D-F55D-4999-9176-05C61181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00300"/>
            <a:ext cx="95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827E283-23A6-4F15-A04F-BB5584FA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38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7B82302-C495-4BF1-B917-11F1D4EF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Support failure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F5C8499-AA6A-464B-A473-4F2F2B10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819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512708F-FFFF-4A5D-90F6-689032F2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265F2DE-C881-44AB-9ACB-36A75E4B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19575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177B895-CDAF-4520-8B0D-4C285543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89D4A8E-4EC8-4FDC-A5FA-1087B09E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091E25F-8410-4D0A-A618-5C05BFB8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6898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8547798-FF2C-4082-BF82-80A885E5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0901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13B649D-495D-48A7-9A76-EF40657C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4904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7C8424D-8095-473D-A66E-79C6F9F7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907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722D4BB-2EC4-40E2-87EA-0F724F60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AD56FC3-6775-4F9B-96B6-44491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1E9D3D4-8F4A-47B8-A77D-6AFEB21A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43A1135-D58E-4A44-BC6D-B762D6B2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69B2618-036D-4E72-A8F0-7F372EAF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A3B789D-A17D-48BD-844A-5CBC637D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652" y="3634154"/>
            <a:ext cx="19050" cy="372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77C4502-B566-4867-AE39-3B2A1885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552" y="3767504"/>
            <a:ext cx="95250" cy="1153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843B0B3-F072-4A3D-A23B-2384D816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807" y="3351701"/>
            <a:ext cx="19050" cy="577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9A19FBA-63B7-465B-AE64-654E143B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707" y="3513626"/>
            <a:ext cx="95250" cy="253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37E9728-96C7-4E8B-8628-3799F2B8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961" y="3161567"/>
            <a:ext cx="19050" cy="475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3ECAA54-A1E2-4023-8EC0-FC3DDF64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61" y="3352067"/>
            <a:ext cx="95250" cy="1615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EE5A18E-6ACE-4014-B78C-CD713657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116" y="3218717"/>
            <a:ext cx="19050" cy="364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F24B36C-9BB5-49F2-8AC8-968F56E4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016" y="3352067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9BDC89F-239B-4A06-9E54-F92C0C25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270" y="3259382"/>
            <a:ext cx="19050" cy="493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D27FF88-2091-429D-9E49-52C8D591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170" y="3421307"/>
            <a:ext cx="95250" cy="2077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6625728-8B9B-4301-8DDC-0FDF8B53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438525"/>
            <a:ext cx="19050" cy="629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364B5C0-DA4B-47F3-83A0-6E5EA796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29025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CA445EC-72FE-44B0-8A5E-7F9DF429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580" y="3772633"/>
            <a:ext cx="19050" cy="372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455A577-8263-4ADB-968F-0DB90378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480" y="3905983"/>
            <a:ext cx="95250" cy="1153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7F0F983-9B9C-48AC-8385-9B1BFE88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734" y="3720978"/>
            <a:ext cx="19050" cy="462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B646839-8CEB-402A-91EE-352B71F6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634" y="3882903"/>
            <a:ext cx="95250" cy="138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C2A2D52-6E26-47C9-9A7D-CD35502E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889" y="3415445"/>
            <a:ext cx="19050" cy="5912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F3990C2-43F4-4D2A-95C2-EC58180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789" y="3605945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D47755A-0B80-451E-8AAA-DC6DE67F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043" y="3126398"/>
            <a:ext cx="19050" cy="641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57FEA81-A54E-44C3-8CF0-67CF92B4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943" y="3259748"/>
            <a:ext cx="95250" cy="3461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A79030D-6ABD-4B44-ABB9-F62706EC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198" y="3097823"/>
            <a:ext cx="19050" cy="470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2C756CD-5938-4109-800B-D48188F0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098" y="3259748"/>
            <a:ext cx="95250" cy="18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CDCDD0F-CA8E-43A4-B5DC-2011C055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352" y="3253887"/>
            <a:ext cx="19050" cy="629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665A68F-56D4-48CF-934D-CAE037D4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252" y="3444387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5BD2681-0353-47AE-BDC7-1B509297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507" y="3587994"/>
            <a:ext cx="19050" cy="464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7A6A5B4-4319-40BA-B129-6EDCDE2A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407" y="3721344"/>
            <a:ext cx="95250" cy="2077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BAD6B9B-3761-43E8-8D1B-14B1EDE2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661" y="3674818"/>
            <a:ext cx="19050" cy="4161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D35183D-9DAD-4262-A4BD-F5E7DD67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561" y="383674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0960698-F261-47E8-BF95-F37C1EC6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816" y="3323126"/>
            <a:ext cx="19050" cy="63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CB1DDA3-A088-4CA2-8AE4-FDB7C9A1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716" y="3513626"/>
            <a:ext cx="95250" cy="3231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3320013-36DC-4DA4-9A26-CCFBA14F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970" y="3103318"/>
            <a:ext cx="19050" cy="5722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BEBAEC4-E5F7-4D3C-B5D4-68EB07B6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870" y="3236668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8FC28F0-D12F-4532-9D52-9EB3F9EF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74743"/>
            <a:ext cx="19050" cy="4473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B00B705-80F5-4F29-9AD2-E18D973D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236668"/>
            <a:ext cx="95250" cy="1615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095CDAC-0215-47BB-BF92-931658FB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280" y="3207727"/>
            <a:ext cx="19050" cy="629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FCC4F13-C025-4B9F-A2D4-73AF41E6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180" y="3398227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34C0E7D-AA12-4E53-9953-0754AC64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434" y="3541835"/>
            <a:ext cx="19050" cy="464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5907E7A-E262-42BD-AE8F-DE15C468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334" y="3675185"/>
            <a:ext cx="95250" cy="2077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621285F-6AF0-4E99-B7DD-4C3D38DE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589" y="3582499"/>
            <a:ext cx="19050" cy="462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8D46844-A7D9-4051-BE62-F84B2BED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489" y="3744424"/>
            <a:ext cx="95250" cy="138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0A409FC-628A-4B0A-B8A8-6ACD7E81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743" y="3300046"/>
            <a:ext cx="19050" cy="5682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F68E4E8-456B-400D-A8A4-D006589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643" y="3490546"/>
            <a:ext cx="95250" cy="253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844D3E7-3935-4639-9D0B-36C22A20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5898" y="3172558"/>
            <a:ext cx="19050" cy="479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0DC5A80-EC8A-49FE-9FE8-0A5B6806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798" y="3305908"/>
            <a:ext cx="95250" cy="18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5DB883D-F2C4-42A8-B6D1-C8E3DF36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69055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06AAD6B-9CE0-463F-BBDE-C927EBFE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88995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70A48FA-50A3-49D3-AE32-30966FF6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D043A90-686A-4ED5-92EA-4C014FD7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28FE464-3963-48C2-A535-0EBE565E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F805D1F-D464-4696-B04F-3549DA68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CE1408F0-70A7-42A6-936D-46B28AC6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1594CBD-9B8C-4DB7-AD6B-2E5E8685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465A955-77D7-4E49-B052-4ACB63C8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C14F192-477A-4492-8C72-D139BF5E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D6DCFC24-C7BE-409E-B4DC-EF01A697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41CEBF2-FB8E-4C92-B090-22DE839F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239450C-BCE2-470A-96C6-86D66C1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AF03389-598A-4895-B30A-C408C8A1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9EA3EEB-3C54-4F95-AB02-AC2DA528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DA9CEC1-B47C-44D2-BCA8-59E58394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00247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rPr>
              <a:t>92.35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07832C8-8974-4DD4-B818-8898478C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754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resistance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6288B1B-248E-4A4A-876C-5BF996E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715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BA54F5C-3A6E-4780-AE61-94B98641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RSI weak, volume expands down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F720877B-40CF-4E9D-85EA-02A7B89A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482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Did the wrong-if trigger clearly?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3953A96-7B23-4690-AE7E-06E003D6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3395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Learner action: compare the chart level, price reaction, and indicator clue before reading the outcome.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49E2F71-417F-4ABA-BE01-443AB493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32766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B4E15ACA-6099-411C-9F62-77C2EFC5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902B3CD-619B-42DE-9E3B-D14AE2CA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19725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DDD606D-3C01-4FDD-B695-611B7447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95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8FA57F9-2DE0-41B0-A6BC-09BC1EEE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400300"/>
            <a:ext cx="95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4EDED46-8261-4481-A8C8-84F827B1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38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DEF95CC-2CFF-4270-961E-3B8B2283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431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Range chop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D4B81C3E-962B-488A-BAC6-7FAB0E80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819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18EC708-5CEA-4A4C-BD50-23AFD070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6447CDF-05B1-47D3-99EF-077AFBD3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9575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6EBB189-A404-41B0-B89C-5CE4A7A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E50AB98-737E-4744-B2B0-2FE5AF9E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A244C20-EDFA-47BF-B5A3-FE7A3B8C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6898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57F3009-5F8C-4B3C-8233-B4969CC2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901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6E4ACBD-ACFF-471A-AB9B-871D77DC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4904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ECE8F2C-D686-4332-9B36-AD02D87B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8907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BBD2A53-F359-4622-AA8B-86CC63C3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427E050-F67D-4790-8259-65A0C2F4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75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4C7C6FD-DDD1-417B-9158-A1A03DDB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FC6DBCDB-E708-42A9-9C2A-B7939C7F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55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ECCEA3D-1DDD-466E-A0D8-3026A44D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450" y="30289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38AFE57-AA51-462A-975E-9A1328FC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502" y="3634154"/>
            <a:ext cx="19050" cy="372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0F6C358-9988-4BC0-8639-2BE60F49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402" y="3767504"/>
            <a:ext cx="95250" cy="1153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69CAFAE-8F52-49F3-83EF-97AA495F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657" y="3351701"/>
            <a:ext cx="19050" cy="577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25A1A3B-5DE0-43C6-9047-F47B7F23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557" y="3513626"/>
            <a:ext cx="95250" cy="253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00A55B4-8470-4053-942D-E80659A9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3811" y="3161567"/>
            <a:ext cx="19050" cy="475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5109885-82A3-4DE4-B768-D5ABAAF9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11" y="3352067"/>
            <a:ext cx="95250" cy="1615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77FB535-C11E-4EF8-9DF4-0D8FB116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966" y="3218717"/>
            <a:ext cx="19050" cy="364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FA76989-5583-4E46-A0ED-6B919C58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866" y="3352067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F1B06C8-97C4-4A5E-BA0D-BF468305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120" y="3259382"/>
            <a:ext cx="19050" cy="493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39AB74E-C7C7-458A-96C8-04165030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020" y="3421307"/>
            <a:ext cx="95250" cy="2077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BB84FD8-3280-4714-8337-40063421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438525"/>
            <a:ext cx="19050" cy="629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0596FBB-4B03-4707-89C4-7D7BDFA0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29025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132AAEA-4580-4D13-9F6E-6F859990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430" y="3772633"/>
            <a:ext cx="19050" cy="372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B69A8E4-15BF-4F2F-9EF2-020E234E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330" y="3905983"/>
            <a:ext cx="95250" cy="1153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06BBCAE-48E7-43FF-B74E-3D16D845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584" y="3720978"/>
            <a:ext cx="19050" cy="462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237F6B7-05EF-4266-B9A6-2A5117CD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484" y="3882903"/>
            <a:ext cx="95250" cy="138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A766F7CF-DA99-431E-8014-00DD4B81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739" y="3415445"/>
            <a:ext cx="19050" cy="5912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BE0C94D4-D0A8-4B26-915B-B7C95AEB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639" y="3605945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88AC821C-487B-44D9-8641-197F8448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893" y="3126398"/>
            <a:ext cx="19050" cy="641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59E9634-CE5F-419F-9441-86A77E9B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793" y="3259748"/>
            <a:ext cx="95250" cy="3461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B0B8EBE-E675-428A-B0EA-8E7438E7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048" y="3097823"/>
            <a:ext cx="19050" cy="470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80621C2-D9F3-40C6-B244-4CE8F6A6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948" y="3259748"/>
            <a:ext cx="95250" cy="18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51F01C8-DD85-4CAD-B20C-5B399754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202" y="3253887"/>
            <a:ext cx="19050" cy="629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BA8613D-6A5B-4B88-8000-6068A748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102" y="3444387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73714B5-AE46-477F-95C6-C738251B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357" y="3587994"/>
            <a:ext cx="19050" cy="464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85CDBD62-B71D-4253-8FE0-9ABF8BC3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257" y="3721344"/>
            <a:ext cx="95250" cy="2077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372E04D4-4FAC-41CD-9381-5795238B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511" y="3674818"/>
            <a:ext cx="19050" cy="4161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C915526-3C8D-4BC3-9AF8-A159AB23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5411" y="383674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A20AC8ED-30CB-4EC9-B658-FBCF6D52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666" y="3323126"/>
            <a:ext cx="19050" cy="63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2126AB8D-D1A4-4DDE-B2F1-BCD3ECF3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566" y="3513626"/>
            <a:ext cx="95250" cy="3231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749EE94C-A039-47E2-BB26-1283B32E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820" y="3103318"/>
            <a:ext cx="19050" cy="5722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090A1DF-3BD8-4F30-B0F1-100DD847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720" y="3236668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0DF1DCC7-AD96-4387-9C68-5C472B65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074743"/>
            <a:ext cx="19050" cy="4473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1D08556A-9313-4832-AC5F-92994125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6668"/>
            <a:ext cx="95250" cy="1615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9749CF64-6754-4E17-B3DD-B2D40907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30" y="3207727"/>
            <a:ext cx="19050" cy="629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ACBA9C0-7071-45C7-952B-4BD6623F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030" y="3398227"/>
            <a:ext cx="95250" cy="276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1926465-EF0E-4977-B19C-85575CE5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284" y="3541835"/>
            <a:ext cx="19050" cy="464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8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86BC1F80-7B2B-47EA-B2C4-A9409E9C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184" y="3675185"/>
            <a:ext cx="95250" cy="2077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671A577-63E3-47C8-A8F8-D6EF2039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439" y="3582499"/>
            <a:ext cx="19050" cy="462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0B9D79C-1345-4641-95A2-DB9E5820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339" y="3744424"/>
            <a:ext cx="95250" cy="138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A83D5EC-B12A-4C56-9510-C4DE131F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593" y="3300046"/>
            <a:ext cx="19050" cy="5682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2A8B90B0-127E-4CD4-989D-0F7E8EEA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493" y="3490546"/>
            <a:ext cx="95250" cy="253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07A5C33-C215-41D6-87AA-81899163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8748" y="3172558"/>
            <a:ext cx="19050" cy="479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4FDADCBC-A1AC-4DAB-AFC4-D573E914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0648" y="3305908"/>
            <a:ext cx="95250" cy="18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A1B0F6C7-9CC1-4CEB-A086-4B6A2D7F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9055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C3B7E58-4D07-403D-BDFB-64DEA118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88995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1EC622B-F7FC-4EA4-98BA-2BDCDED3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19D4F75-E203-47B1-9ECD-8AFD3BFD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CBA18671-BB10-42DC-8967-9407FD77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946FD23-6AFD-44E9-81F7-1946EBC4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815AACFD-CC5E-4942-9F18-08947B8E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82AD007-0A23-49F8-BFBA-C824F45E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4B824627-1921-47EE-B4D7-CADDB39C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46C7CBBA-14B0-4C70-A44C-C0CFBA39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1A90ACA-887F-4EA6-B07B-DAC9AB64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D5BEE48F-45C3-4381-80D0-CB5B12CC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56321317-45C4-4E35-A3FE-2EE6AD93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8D23AF1-3932-465B-9993-CB84E45A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D9DE649C-C2F2-4CED-8152-D748933D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05022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CA2447C-5719-4A96-B01C-0B0D8608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00247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50807"/>
                </a:solidFill>
                <a:latin typeface="Aptos Mono"/>
                <a:ea typeface="Aptos Mono"/>
                <a:cs typeface="Aptos Mono"/>
              </a:rPr>
              <a:t>96.10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7567E015-F697-4853-B5C1-FBD7F963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1754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resistance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02E5C52C-9727-46D1-9124-07658826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715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563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support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51314D1-66E2-41DE-9C84-68A09756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VWAP flat, ATR compressing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25452F0C-EBC7-458F-B2EA-84152863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482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Is patience better than forcing a plan?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ABE35E8-C083-4143-AA37-07EA6FDD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3395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Learner action: compare the chart level, price reaction, and indicator clue before reading the outcome.</a:t>
            </a:r>
          </a:p>
        </p:txBody>
      </p:sp>
    </p:spTree>
    <p:extLst>
      <p:ext uri="{BB962C8B-B14F-4D97-AF65-F5344CB8AC3E}">
        <p14:creationId xmlns:p14="http://schemas.microsoft.com/office/powerpoint/2010/main" val="14312282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4C6A3A-9DFE-444F-8013-0B222CD1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F7DB7-23BE-4CC4-AF1B-5BFF02C4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97DE4-39D4-49AE-BB90-F93E984A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61533-33B8-47CD-B833-D464908E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298DD-D54E-4B96-AB24-89179BDA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53331-D8DF-4ADE-BAA1-52007F08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746FD-AFED-4CC2-985E-41DB2A29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C08D5-2D2A-4D6D-8872-90B327A8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B4AB8-0257-4401-8D95-EC52C3B2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43B90-6E9B-4AE3-AFBE-A924C2AD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388E9-1E93-4BFA-BE11-719363CA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52072-AA49-440F-A838-CFB3AF92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4907D-2E35-48F9-8735-B9D96C73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FE667-70D7-4C31-85A6-DC416F42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92088-E154-4A93-A6E2-9FED7E5F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0D3AF-D2F7-4890-9C27-52F7D279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BCA2BA-DBA7-494E-B576-3C0B3D5D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0A53F-8B51-46A9-9777-758B6621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FA553-C9ED-4405-8F64-1419110F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A2E5E-A93F-4BA7-AACE-937AD609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161A7-F91E-470C-9595-ECD28CEB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38B19-8428-44BB-8440-CF07FC0C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780EB6-DFC8-43AB-B0AA-DB578D7A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2252E-1925-4ABA-9F40-BE3812ED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819A1A-6F08-42CA-BA3C-57B34B2A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25D85-1718-437A-A32F-139D084C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32758-2A16-4BE9-AF16-640B2BDF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DD5BFB-43BF-44E0-8A4E-72114317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85186D-7881-41E1-AC4A-1A784FA5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FF312D-BE63-4A45-8B04-052EA54D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EB13B6-4555-4C72-9308-AD38064F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A2ADAF-751B-44FE-ADE2-CE9529C5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5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WHAT COULD BE BETTER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16AA0B-7539-4EA1-8341-7CBE6DC1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educational paper planning - not trade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83BA49-54C6-479A-8A60-F2286AAD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POLISH BACKLOG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9FF26-6887-4D9F-B48B-0EF8D3F4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next improvements should reduce guessing and make the chart feel more like a simple TradingView workspace.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65317A-E4A0-4462-B145-809AE595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85950"/>
            <a:ext cx="804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Focus the UI on chart context, clear labels, useful defaults, and fewer repeated beginner reminders.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7B011A-AF0C-4E79-91BD-2277C6BB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60A1D3-0C4E-413C-96C5-952A057B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idea planning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5CDA0E-E596-415C-8089-FEE0DC90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43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7781F8-9FA0-4409-8E8C-17B771F7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EB7DB9-A409-4F71-92A6-23FA1060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AREA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79DC2D-1825-487B-9808-17A569E7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FIX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545DC9-9FCD-4D53-9579-0C2ED49B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527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IMPACT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6D6287-8427-43F8-9C11-5277255C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59B865-14BE-46E1-BFE9-CE6ECC90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Pair picker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92BB87-0848-4499-B06B-F8C27E0B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194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Show asset, last price, change, and timeframe defaults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12F2F0-BC0B-491D-93DA-C34B8C69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8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E42158-3C0F-45F1-9996-E1D3DD56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188520-85FA-4D3D-8572-BE66D617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48025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7A9D29-4BAD-4F95-B779-F201A7C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10CF94-C37C-4021-B180-D02F25C2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9527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33EC39-ED5C-45B7-8EC0-7CDB1486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2895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High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183FB3-999C-4129-A364-8B08B6CC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5E50B7-884D-4AAD-99C0-1D2C3F4F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Current price tags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5C443D-A111-48CE-84CE-4431869E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7187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Label actual price next to each key line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C8AB96-9A62-4AB7-8C27-D848CAF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052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8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C9DEC8-3CE2-46D7-BD5D-179FE93F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05200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861870-28E5-40FA-8594-5E561634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00475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5EFBDF-C97F-47FE-9F8F-9DF31365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0520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7EA9CD-D83E-4DA9-B80D-FC4032DD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50520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E76FAF-9C26-40FE-A211-CFCECB93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8140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High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09EF6C-7E0B-42D8-B5FE-2E8B44D5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D55088-7A52-4BE8-B8C2-B13B8C70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243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Indicator cards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4D02AFD-4D0F-49CD-A397-C92BB37C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243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Explain MA, RSI, Volume, VWAP, MACD, ATR in learning mode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2B5A41-388E-475A-A8A5-1921291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8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C16661-5B5F-4FD7-9367-A0A6390A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35300E-6978-4679-9469-5693974E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52925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B093F9-4368-42F9-A701-C0E1BB99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B50D5B3-EE52-4DAC-BC2F-933D5AD5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0576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1F63AA6-309B-4966-A0BB-4825226B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3385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High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441D0F-5379-4BD4-9606-85753CB4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18661E9-DB0A-4158-A0E0-3EBF4971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Historical strip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4F84E48-240B-4A26-81C0-C9AFFE53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7677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Show example snapshots below the workspace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C00E65-A2DF-4B93-BC50-19BAA4D4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101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88D58B-B439-4326-93EA-4056C179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10100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69E2C94-7A68-49AC-9A2D-7A1AED1B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D7EAE3A-6736-438D-BC58-8F9E8F07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1010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AEB7BD-4B62-4F10-B26D-26F5D0DF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61010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191E95B-8FAF-4B71-B523-65F04F79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8630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Medium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ECBA227-DC4B-4306-A60F-67EEC648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019EC5E-2E1C-445A-AEDF-3D5D7B1A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292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Saved trades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F495437-F519-4007-BB74-356BC8A4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292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Paid users can save, tag, and review completed practice ideas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273572E-23B0-4C22-8733-B0DEAB2E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625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C1A3135-AEB3-4B43-A541-C48C7594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62550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EE3AF50-19F6-4E0D-AE35-0344D787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57825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893A39A-76AB-4F49-BC98-00525F7F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625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E72E928-2CD8-4502-AAD2-42729EB2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1625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277E272-73CB-4E42-940D-1BDBECB9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23875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Medium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F6242C5-8B6F-4827-AE8B-951A877E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A510BA-92B1-4424-A935-A390FECA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816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Text restraint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17EB66C-6782-4FD5-A877-AED3F831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8167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Say the core beginner warning only where it matters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75FA9E7-4E51-49A9-8A5B-13B2C746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8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E7505EF-A3E8-482F-9C14-E7B88454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0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A400F9D-F5EC-41D7-B9AD-AB176C6D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010275"/>
            <a:ext cx="81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6210708-FA1C-4A52-BC18-D0642F57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F1299C7-C0D0-496C-84A2-1FA0AA60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71500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B5D979-A31A-482D-8A1D-BCDACBE4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79120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2482901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578EFE-AC4C-417C-ACE0-37AFC16E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44637-E0B8-40DC-AC08-088CFF3C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99658-60E0-4E0D-AB3A-5907914F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010A2-BC0A-49D2-8B75-B3308A36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60E3B-86F0-48C0-83CC-07EFAB75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FDB45-E19F-4687-8F2B-9BC83C96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35B0C-EDD5-4CE7-91DF-F7E38A72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81DCC-C9AD-41A8-AA20-2EC80F4A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95094-2221-41B0-90ED-AB93425F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60303-9A97-4764-866A-B755BC68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6F800-6729-4C52-867E-59FF1111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E8A38-72B2-4EA1-A4A0-B819F3AE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936D2-BBF9-40B7-A6B5-A5D62F49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D02C3-4CD3-4134-BD17-3A325495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06359-146B-4359-8FB7-33ACE735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0F06E-7012-408D-9462-EAF8BBB7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2CCAC-1CC3-4EFB-87B9-98B21B7E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81277-27A2-445E-A4CB-B51101C4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B089F-04FB-4070-9D1D-B1DF9B69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AC1FBC-0CD9-4EDC-AB0B-3F43A5A8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80FAD-B6EF-48C2-9064-495F8D14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C85E1-B3B0-4000-8591-A57BBE92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2BE13-78E7-4BF5-AD92-0564B961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341FE1-A475-4927-A0FB-FFE0828B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65CCE-FA2B-4286-A396-57C60E7D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242CD5-4FCC-4488-854D-FE8D0491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5B12A-950C-48F1-9C7E-88806E7D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C0D592-C801-4E2F-B807-120F1FDE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6F63C4-ADFB-461E-A8CB-02371D14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8E10FA-28A9-4D16-9F78-9B58E66C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F8C3DF-1545-46EA-A95A-C3C76DBF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6E2A6C-9D22-4534-9981-4F3D7C6F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5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NEXT BUILD SEQUENCE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E4446-8E22-43A9-813D-B89E9386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952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educational paper planning - not trade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BD92C5-EDE8-4523-B3EA-A976623D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BUILD ORDER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D4A53D-31E9-48A2-A965-97266FAA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790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Ship the planning tools in the order that removes the most learner confusion first.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0EE16E-FB78-4DEF-90D9-AC0DBB09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85950"/>
            <a:ext cx="804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This keeps the app useful while the bigger paid saved-trade system is still being designed.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75319E-9B81-4010-A893-8585B3F3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29375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FEAC53-B43F-48BD-B1E2-E3343428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43675"/>
            <a:ext cx="571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idea planning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729BE7-5602-40AC-86FB-B2098BAB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43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F9085A-665D-4A4C-A4D4-002B57DB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2ADBC3-1918-4302-BCFF-47BC8101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6E0DF0-6890-48B0-B484-50323034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4534C8-BFE9-4280-B057-540647A1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441BB3-A515-4943-941F-B565B204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0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AACB38-9C91-4D1B-8CFA-84205097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F00998-D893-48B0-9130-33124635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982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Pair dropdown + price labels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E6DDA3-0909-40B6-97D2-ECB53A1F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38425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Choose market cleanly and understand O/H/L/C/current price without guessing.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FB9BDD-B58D-4CA4-AC5E-52D986E7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A341AC-6178-4AF5-97C7-8197694E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A239B5-B95A-49AB-9D5A-7FA3BBE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4D669D-3544-4A4D-B1B1-1FD69F47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778E27-EDBE-48DE-869D-C913614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00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BD5A54-8E6B-465A-9577-3DAE16F9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3A0196-FFCC-49BB-8DDC-446E81FE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982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Indicator explainer drawer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F0E0E2-CCD8-4F89-B62A-E004D5B9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38425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One card per indicator with measures, useful when, watch out, confirm with, beginner question.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11487B-039B-43A6-90ED-2BB6C7BF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767987-36BF-40A4-8E5A-E60044BC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8BBB31-84BE-4FE5-B0BB-68287293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1CD787-5479-4019-B70F-22607491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034918-FF91-404C-A85F-B71D03D3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671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CB6926-C64B-47BA-A352-99F14D78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12EDDCE-B26C-4EF7-8BAB-97CBFF25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Historical example strip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C67104-9D0B-4B79-9B47-D984D85B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05225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Show comparable past setups below the chart with indicator state and outcome.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B7180C3-681B-44AB-A05B-B24F8378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0DD3A4-50F0-4D5C-B87E-BCD8030E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123145-5A8C-42BA-AC50-EA56DDB4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76675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5A5A27C-2082-481A-A757-D0FF2C13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D413C9-5B6C-4273-BD8E-1A3A305F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671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0495BBF-A523-4B67-A432-88230478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528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C6B4359-C215-4297-A146-49D8E443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7662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Saved practice trades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4C5887-AB37-47BD-8757-F2E2C97B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05225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Paid feature: save plan, snapshot, tags, result, notes, and lessons learned.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BA5480-3C2D-48AE-952C-B86ECAD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7640E8-0EC7-479D-A757-A71F4DE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4CA56B-DE60-41DD-B55A-B12932AD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89ABB07-4D84-4EA6-BEF7-A97BB850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569A26-1FBD-453D-AF54-8FC6F9F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339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3695619-3FC5-4CC8-8158-9E28F843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FE9EEA6-F664-4AC0-9292-7D6D6F7D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Idea quality score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6C94E2-15F1-4DB3-B19B-D95A202F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72025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Flag missing invalidation, weak location, no indicator question, or unclear review prompt.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6B45729-FE14-49E8-991D-ED096CB5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05450"/>
            <a:ext cx="781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3CAB1C-EF7A-44BF-AAF3-C24A60B1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054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C06B256-9073-41D4-803B-E3214A19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33412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DBAF1B6-E63C-48FB-B93F-24FC5D51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054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4B42C82-6D97-440D-A7FF-5578734B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5054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51C6DD1-8539-4DA3-A554-6F135CA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48325"/>
            <a:ext cx="746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Operating principle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D41875A-42C0-45A4-BFE4-5CC4C7BA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962650"/>
            <a:ext cx="746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Make every plan explain why it exists, what would prove it wrong, and what the learner should review later.</a:t>
            </a:r>
          </a:p>
        </p:txBody>
      </p:sp>
    </p:spTree>
    <p:extLst>
      <p:ext uri="{BB962C8B-B14F-4D97-AF65-F5344CB8AC3E}">
        <p14:creationId xmlns:p14="http://schemas.microsoft.com/office/powerpoint/2010/main" val="211445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2026-06-05T17:39:34.6670000Z</dcterms:created>
  <dcterms:modified xsi:type="dcterms:W3CDTF">2026-06-05T17:39:34.6680000Z</dcterms:modified>
</coreProperties>
</file>